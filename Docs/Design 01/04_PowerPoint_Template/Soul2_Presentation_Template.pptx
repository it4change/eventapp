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2_mandala_motif.png"/>
          <p:cNvPicPr>
            <a:picLocks noChangeAspect="1"/>
          </p:cNvPicPr>
          <p:nvPr/>
        </p:nvPicPr>
        <p:blipFill>
          <a:blip r:embed="rId2"/>
          <a:stretch>
            <a:fillRect/>
          </a:stretch>
        </p:blipFill>
        <p:spPr>
          <a:xfrm>
            <a:off x="8686800" y="-1371600"/>
            <a:ext cx="5486400" cy="5486400"/>
          </a:xfrm>
          <a:prstGeom prst="rect">
            <a:avLst/>
          </a:prstGeom>
        </p:spPr>
      </p:pic>
      <p:sp>
        <p:nvSpPr>
          <p:cNvPr id="4" name="TextBox 3"/>
          <p:cNvSpPr txBox="1"/>
          <p:nvPr/>
        </p:nvSpPr>
        <p:spPr>
          <a:xfrm>
            <a:off x="822960" y="1828800"/>
            <a:ext cx="7315200" cy="365760"/>
          </a:xfrm>
          <a:prstGeom prst="rect">
            <a:avLst/>
          </a:prstGeom>
          <a:noFill/>
        </p:spPr>
        <p:txBody>
          <a:bodyPr wrap="square" lIns="0" rIns="0" tIns="0" bIns="0" anchor="t">
            <a:spAutoFit/>
          </a:bodyPr>
          <a:lstStyle/>
          <a:p>
            <a:pPr algn="l"/>
            <a:r>
              <a:rPr sz="1400" b="1" i="0" spc="400">
                <a:solidFill>
                  <a:srgbClr val="C25E2A"/>
                </a:solidFill>
                <a:latin typeface="Helvetica"/>
              </a:rPr>
              <a:t>DANCE · SPIRIT · NATURE</a:t>
            </a:r>
          </a:p>
        </p:txBody>
      </p:sp>
      <p:sp>
        <p:nvSpPr>
          <p:cNvPr id="5" name="TextBox 4"/>
          <p:cNvSpPr txBox="1"/>
          <p:nvPr/>
        </p:nvSpPr>
        <p:spPr>
          <a:xfrm>
            <a:off x="822960" y="2286000"/>
            <a:ext cx="7315200" cy="2286000"/>
          </a:xfrm>
          <a:prstGeom prst="rect">
            <a:avLst/>
          </a:prstGeom>
          <a:noFill/>
        </p:spPr>
        <p:txBody>
          <a:bodyPr wrap="square" lIns="0" rIns="0" tIns="0" bIns="0" anchor="t">
            <a:spAutoFit/>
          </a:bodyPr>
          <a:lstStyle/>
          <a:p>
            <a:pPr algn="l"/>
            <a:r>
              <a:rPr sz="18000" b="0" i="1">
                <a:solidFill>
                  <a:srgbClr val="6B3410"/>
                </a:solidFill>
                <a:latin typeface="Brush Script MT"/>
              </a:rPr>
              <a:t>Soul</a:t>
            </a:r>
          </a:p>
        </p:txBody>
      </p:sp>
      <p:sp>
        <p:nvSpPr>
          <p:cNvPr id="6" name="TextBox 5"/>
          <p:cNvSpPr txBox="1"/>
          <p:nvPr/>
        </p:nvSpPr>
        <p:spPr>
          <a:xfrm>
            <a:off x="4206240" y="2103120"/>
            <a:ext cx="914400" cy="914400"/>
          </a:xfrm>
          <a:prstGeom prst="rect">
            <a:avLst/>
          </a:prstGeom>
          <a:noFill/>
        </p:spPr>
        <p:txBody>
          <a:bodyPr wrap="square" lIns="0" rIns="0" tIns="0" bIns="0" anchor="t">
            <a:spAutoFit/>
          </a:bodyPr>
          <a:lstStyle/>
          <a:p>
            <a:pPr algn="l"/>
            <a:r>
              <a:rPr sz="8000" b="1" i="0">
                <a:solidFill>
                  <a:srgbClr val="C25E2A"/>
                </a:solidFill>
                <a:latin typeface="Georgia"/>
              </a:rPr>
              <a:t>²</a:t>
            </a:r>
          </a:p>
        </p:txBody>
      </p:sp>
      <p:sp>
        <p:nvSpPr>
          <p:cNvPr id="7" name="TextBox 6"/>
          <p:cNvSpPr txBox="1"/>
          <p:nvPr/>
        </p:nvSpPr>
        <p:spPr>
          <a:xfrm>
            <a:off x="822960" y="4572000"/>
            <a:ext cx="7315200" cy="548640"/>
          </a:xfrm>
          <a:prstGeom prst="rect">
            <a:avLst/>
          </a:prstGeom>
          <a:noFill/>
        </p:spPr>
        <p:txBody>
          <a:bodyPr wrap="square" lIns="0" rIns="0" tIns="0" bIns="0" anchor="t">
            <a:spAutoFit/>
          </a:bodyPr>
          <a:lstStyle/>
          <a:p>
            <a:pPr algn="l"/>
            <a:r>
              <a:rPr sz="2400" b="0" i="1">
                <a:solidFill>
                  <a:srgbClr val="3A1F0E"/>
                </a:solidFill>
                <a:latin typeface="Georgia"/>
              </a:rPr>
              <a:t>Präsentations-Vorlage</a:t>
            </a:r>
          </a:p>
        </p:txBody>
      </p:sp>
      <p:sp>
        <p:nvSpPr>
          <p:cNvPr id="8" name="TextBox 7"/>
          <p:cNvSpPr txBox="1"/>
          <p:nvPr/>
        </p:nvSpPr>
        <p:spPr>
          <a:xfrm>
            <a:off x="822960" y="5029200"/>
            <a:ext cx="7315200" cy="457200"/>
          </a:xfrm>
          <a:prstGeom prst="rect">
            <a:avLst/>
          </a:prstGeom>
          <a:noFill/>
        </p:spPr>
        <p:txBody>
          <a:bodyPr wrap="square" lIns="0" rIns="0" tIns="0" bIns="0" anchor="t">
            <a:spAutoFit/>
          </a:bodyPr>
          <a:lstStyle/>
          <a:p>
            <a:pPr algn="l"/>
            <a:r>
              <a:rPr sz="1400" b="0" i="1">
                <a:solidFill>
                  <a:srgbClr val="C25E2A"/>
                </a:solidFill>
                <a:latin typeface="Georgia"/>
              </a:rPr>
              <a:t>— Presentation Template —</a:t>
            </a:r>
          </a:p>
        </p:txBody>
      </p:sp>
      <p:sp>
        <p:nvSpPr>
          <p:cNvPr id="9" name="TextBox 8"/>
          <p:cNvSpPr txBox="1"/>
          <p:nvPr/>
        </p:nvSpPr>
        <p:spPr>
          <a:xfrm>
            <a:off x="822960" y="6035040"/>
            <a:ext cx="9144000" cy="365760"/>
          </a:xfrm>
          <a:prstGeom prst="rect">
            <a:avLst/>
          </a:prstGeom>
          <a:noFill/>
        </p:spPr>
        <p:txBody>
          <a:bodyPr wrap="square" lIns="0" rIns="0" tIns="0" bIns="0" anchor="t">
            <a:spAutoFit/>
          </a:bodyPr>
          <a:lstStyle/>
          <a:p>
            <a:pPr algn="l"/>
            <a:r>
              <a:rPr sz="1100" b="0" i="1">
                <a:solidFill>
                  <a:srgbClr val="3A1F0E"/>
                </a:solidFill>
                <a:latin typeface="Helvetica"/>
              </a:rPr>
              <a:t>v1.0   ·   Mai 2026</a:t>
            </a:r>
          </a:p>
        </p:txBody>
      </p:sp>
      <p:cxnSp>
        <p:nvCxnSpPr>
          <p:cNvPr id="10" name="Connector 9"/>
          <p:cNvCxnSpPr/>
          <p:nvPr/>
        </p:nvCxnSpPr>
        <p:spPr>
          <a:xfrm>
            <a:off x="822960" y="2194560"/>
            <a:ext cx="1463040" cy="0"/>
          </a:xfrm>
          <a:prstGeom prst="line">
            <a:avLst/>
          </a:prstGeom>
          <a:ln w="12700">
            <a:solidFill>
              <a:srgbClr val="C25E2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3_pattern_tile.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1828800" cy="457200"/>
          </a:xfrm>
          <a:prstGeom prst="rect">
            <a:avLst/>
          </a:prstGeom>
          <a:noFill/>
        </p:spPr>
        <p:txBody>
          <a:bodyPr wrap="square" lIns="0" rIns="0" tIns="0" bIns="0" anchor="t">
            <a:spAutoFit/>
          </a:bodyPr>
          <a:lstStyle/>
          <a:p>
            <a:pPr algn="l"/>
            <a:r>
              <a:rPr sz="1400" b="1" i="0" spc="400">
                <a:solidFill>
                  <a:srgbClr val="D4A047"/>
                </a:solidFill>
                <a:latin typeface="Helvetica"/>
              </a:rPr>
              <a:t>ABSCHNITT 01</a:t>
            </a:r>
          </a:p>
        </p:txBody>
      </p:sp>
      <p:sp>
        <p:nvSpPr>
          <p:cNvPr id="6" name="TextBox 5"/>
          <p:cNvSpPr txBox="1"/>
          <p:nvPr/>
        </p:nvSpPr>
        <p:spPr>
          <a:xfrm>
            <a:off x="822960" y="2560320"/>
            <a:ext cx="10058400" cy="2286000"/>
          </a:xfrm>
          <a:prstGeom prst="rect">
            <a:avLst/>
          </a:prstGeom>
          <a:noFill/>
        </p:spPr>
        <p:txBody>
          <a:bodyPr wrap="square" lIns="0" rIns="0" tIns="0" bIns="0" anchor="t">
            <a:spAutoFit/>
          </a:bodyPr>
          <a:lstStyle/>
          <a:p>
            <a:pPr algn="l"/>
            <a:r>
              <a:rPr sz="6400" b="0" i="0">
                <a:solidFill>
                  <a:srgbClr val="F7EFE0"/>
                </a:solidFill>
                <a:latin typeface="Georgia"/>
              </a:rPr>
              <a:t>Wo wir uns</a:t>
            </a:r>
          </a:p>
        </p:txBody>
      </p:sp>
      <p:sp>
        <p:nvSpPr>
          <p:cNvPr id="7" name="TextBox 6"/>
          <p:cNvSpPr txBox="1"/>
          <p:nvPr/>
        </p:nvSpPr>
        <p:spPr>
          <a:xfrm>
            <a:off x="822960" y="3566160"/>
            <a:ext cx="10058400" cy="1828800"/>
          </a:xfrm>
          <a:prstGeom prst="rect">
            <a:avLst/>
          </a:prstGeom>
          <a:noFill/>
        </p:spPr>
        <p:txBody>
          <a:bodyPr wrap="square" lIns="0" rIns="0" tIns="0" bIns="0" anchor="t">
            <a:spAutoFit/>
          </a:bodyPr>
          <a:lstStyle/>
          <a:p>
            <a:pPr algn="l"/>
            <a:r>
              <a:rPr sz="14000" b="0" i="1">
                <a:solidFill>
                  <a:srgbClr val="D4A047"/>
                </a:solidFill>
                <a:latin typeface="Brush Script MT"/>
              </a:rPr>
              <a:t>begegnen</a:t>
            </a:r>
          </a:p>
        </p:txBody>
      </p:sp>
      <p:sp>
        <p:nvSpPr>
          <p:cNvPr id="8" name="TextBox 7"/>
          <p:cNvSpPr txBox="1"/>
          <p:nvPr/>
        </p:nvSpPr>
        <p:spPr>
          <a:xfrm>
            <a:off x="914400" y="5760720"/>
            <a:ext cx="10058400" cy="457200"/>
          </a:xfrm>
          <a:prstGeom prst="rect">
            <a:avLst/>
          </a:prstGeom>
          <a:noFill/>
        </p:spPr>
        <p:txBody>
          <a:bodyPr wrap="square" lIns="0" rIns="0" tIns="0" bIns="0" anchor="t">
            <a:spAutoFit/>
          </a:bodyPr>
          <a:lstStyle/>
          <a:p>
            <a:pPr algn="l"/>
            <a:r>
              <a:rPr sz="1600" b="0" i="1">
                <a:solidFill>
                  <a:srgbClr val="F2D9A8"/>
                </a:solidFill>
                <a:latin typeface="Georgia"/>
              </a:rPr>
              <a:t>— Where we meet —</a:t>
            </a:r>
          </a:p>
        </p:txBody>
      </p:sp>
      <p:cxnSp>
        <p:nvCxnSpPr>
          <p:cNvPr id="9" name="Connector 8"/>
          <p:cNvCxnSpPr/>
          <p:nvPr/>
        </p:nvCxnSpPr>
        <p:spPr>
          <a:xfrm>
            <a:off x="914400" y="2468880"/>
            <a:ext cx="914400" cy="0"/>
          </a:xfrm>
          <a:prstGeom prst="line">
            <a:avLst/>
          </a:prstGeom>
          <a:ln w="12700">
            <a:solidFill>
              <a:srgbClr val="D4A04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7315200" cy="365760"/>
          </a:xfrm>
          <a:prstGeom prst="rect">
            <a:avLst/>
          </a:prstGeom>
          <a:noFill/>
        </p:spPr>
        <p:txBody>
          <a:bodyPr wrap="square" lIns="0" rIns="0" tIns="0" bIns="0" anchor="t">
            <a:spAutoFit/>
          </a:bodyPr>
          <a:lstStyle/>
          <a:p>
            <a:pPr algn="l"/>
            <a:r>
              <a:rPr sz="1100" b="1" i="0" spc="400">
                <a:solidFill>
                  <a:srgbClr val="C25E2A"/>
                </a:solidFill>
                <a:latin typeface="Helvetica"/>
              </a:rPr>
              <a:t>UNSERE ANGEBOTE · OUR OFFERINGS</a:t>
            </a:r>
          </a:p>
        </p:txBody>
      </p:sp>
      <p:sp>
        <p:nvSpPr>
          <p:cNvPr id="5" name="TextBox 4"/>
          <p:cNvSpPr txBox="1"/>
          <p:nvPr/>
        </p:nvSpPr>
        <p:spPr>
          <a:xfrm>
            <a:off x="731520" y="914400"/>
            <a:ext cx="10058400" cy="1097280"/>
          </a:xfrm>
          <a:prstGeom prst="rect">
            <a:avLst/>
          </a:prstGeom>
          <a:noFill/>
        </p:spPr>
        <p:txBody>
          <a:bodyPr wrap="square" lIns="0" rIns="0" tIns="0" bIns="0" anchor="t">
            <a:spAutoFit/>
          </a:bodyPr>
          <a:lstStyle/>
          <a:p>
            <a:pPr algn="l"/>
            <a:r>
              <a:rPr sz="4400" b="0" i="0">
                <a:solidFill>
                  <a:srgbClr val="6B3410"/>
                </a:solidFill>
                <a:latin typeface="Georgia"/>
              </a:rPr>
              <a:t>Drei Pfade in den Wald</a:t>
            </a:r>
          </a:p>
        </p:txBody>
      </p:sp>
      <p:sp>
        <p:nvSpPr>
          <p:cNvPr id="6" name="TextBox 5"/>
          <p:cNvSpPr txBox="1"/>
          <p:nvPr/>
        </p:nvSpPr>
        <p:spPr>
          <a:xfrm>
            <a:off x="731520" y="1737360"/>
            <a:ext cx="10058400" cy="457200"/>
          </a:xfrm>
          <a:prstGeom prst="rect">
            <a:avLst/>
          </a:prstGeom>
          <a:noFill/>
        </p:spPr>
        <p:txBody>
          <a:bodyPr wrap="square" lIns="0" rIns="0" tIns="0" bIns="0" anchor="t">
            <a:spAutoFit/>
          </a:bodyPr>
          <a:lstStyle/>
          <a:p>
            <a:pPr algn="l"/>
            <a:r>
              <a:rPr sz="1500" b="0" i="1">
                <a:solidFill>
                  <a:srgbClr val="C25E2A"/>
                </a:solidFill>
                <a:latin typeface="Georgia"/>
              </a:rPr>
              <a:t>— Three paths into the forest —</a:t>
            </a:r>
          </a:p>
        </p:txBody>
      </p:sp>
      <p:cxnSp>
        <p:nvCxnSpPr>
          <p:cNvPr id="7" name="Connector 6"/>
          <p:cNvCxnSpPr/>
          <p:nvPr/>
        </p:nvCxnSpPr>
        <p:spPr>
          <a:xfrm>
            <a:off x="731520" y="2377440"/>
            <a:ext cx="1554480" cy="0"/>
          </a:xfrm>
          <a:prstGeom prst="line">
            <a:avLst/>
          </a:prstGeom>
          <a:ln w="15240">
            <a:solidFill>
              <a:srgbClr val="C25E2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46607" y="2743200"/>
            <a:ext cx="3383280" cy="2926080"/>
          </a:xfrm>
          <a:prstGeom prst="rect">
            <a:avLst/>
          </a:prstGeom>
          <a:solidFill>
            <a:srgbClr val="FAF6EE"/>
          </a:solidFill>
          <a:ln w="12700">
            <a:solidFill>
              <a:srgbClr val="C25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2367" y="3017520"/>
            <a:ext cx="548640" cy="365760"/>
          </a:xfrm>
          <a:prstGeom prst="rect">
            <a:avLst/>
          </a:prstGeom>
          <a:noFill/>
        </p:spPr>
        <p:txBody>
          <a:bodyPr wrap="square" lIns="0" rIns="0" tIns="0" bIns="0" anchor="t">
            <a:spAutoFit/>
          </a:bodyPr>
          <a:lstStyle/>
          <a:p>
            <a:pPr algn="l"/>
            <a:r>
              <a:rPr sz="1200" b="1" i="0">
                <a:solidFill>
                  <a:srgbClr val="C25E2A"/>
                </a:solidFill>
                <a:latin typeface="Georgia"/>
              </a:rPr>
              <a:t>01</a:t>
            </a:r>
          </a:p>
        </p:txBody>
      </p:sp>
      <p:sp>
        <p:nvSpPr>
          <p:cNvPr id="10" name="TextBox 9"/>
          <p:cNvSpPr txBox="1"/>
          <p:nvPr/>
        </p:nvSpPr>
        <p:spPr>
          <a:xfrm>
            <a:off x="1112367" y="3474720"/>
            <a:ext cx="2651760" cy="640080"/>
          </a:xfrm>
          <a:prstGeom prst="rect">
            <a:avLst/>
          </a:prstGeom>
          <a:noFill/>
        </p:spPr>
        <p:txBody>
          <a:bodyPr wrap="square" lIns="0" rIns="0" tIns="0" bIns="0" anchor="t">
            <a:spAutoFit/>
          </a:bodyPr>
          <a:lstStyle/>
          <a:p>
            <a:pPr algn="l"/>
            <a:r>
              <a:rPr sz="2600" b="0" i="0">
                <a:solidFill>
                  <a:srgbClr val="6B3410"/>
                </a:solidFill>
                <a:latin typeface="Georgia"/>
              </a:rPr>
              <a:t>Zeremonie</a:t>
            </a:r>
          </a:p>
        </p:txBody>
      </p:sp>
      <p:sp>
        <p:nvSpPr>
          <p:cNvPr id="11" name="TextBox 10"/>
          <p:cNvSpPr txBox="1"/>
          <p:nvPr/>
        </p:nvSpPr>
        <p:spPr>
          <a:xfrm>
            <a:off x="1112367" y="4114800"/>
            <a:ext cx="2651760" cy="365760"/>
          </a:xfrm>
          <a:prstGeom prst="rect">
            <a:avLst/>
          </a:prstGeom>
          <a:noFill/>
        </p:spPr>
        <p:txBody>
          <a:bodyPr wrap="square" lIns="0" rIns="0" tIns="0" bIns="0" anchor="t">
            <a:spAutoFit/>
          </a:bodyPr>
          <a:lstStyle/>
          <a:p>
            <a:pPr algn="l"/>
            <a:r>
              <a:rPr sz="1300" b="0" i="1">
                <a:solidFill>
                  <a:srgbClr val="C25E2A"/>
                </a:solidFill>
                <a:latin typeface="Georgia"/>
              </a:rPr>
              <a:t>Ceremony</a:t>
            </a:r>
          </a:p>
        </p:txBody>
      </p:sp>
      <p:sp>
        <p:nvSpPr>
          <p:cNvPr id="12" name="TextBox 11"/>
          <p:cNvSpPr txBox="1"/>
          <p:nvPr/>
        </p:nvSpPr>
        <p:spPr>
          <a:xfrm>
            <a:off x="1112367" y="4572000"/>
            <a:ext cx="2651760" cy="914400"/>
          </a:xfrm>
          <a:prstGeom prst="rect">
            <a:avLst/>
          </a:prstGeom>
          <a:noFill/>
        </p:spPr>
        <p:txBody>
          <a:bodyPr wrap="square" lIns="0" rIns="0" tIns="0" bIns="0" anchor="t">
            <a:spAutoFit/>
          </a:bodyPr>
          <a:lstStyle/>
          <a:p>
            <a:pPr algn="l"/>
            <a:r>
              <a:rPr sz="1200" b="0" i="0">
                <a:solidFill>
                  <a:srgbClr val="3A1F0E"/>
                </a:solidFill>
                <a:latin typeface="Helvetica"/>
              </a:rPr>
              <a:t>Räume mit Absicht, in denen tiefe Erfahrung sicher und respektvoll geschehen darf.</a:t>
            </a:r>
          </a:p>
        </p:txBody>
      </p:sp>
      <p:sp>
        <p:nvSpPr>
          <p:cNvPr id="13" name="Rectangle 12"/>
          <p:cNvSpPr/>
          <p:nvPr/>
        </p:nvSpPr>
        <p:spPr>
          <a:xfrm>
            <a:off x="4404207" y="2743200"/>
            <a:ext cx="3383280" cy="2926080"/>
          </a:xfrm>
          <a:prstGeom prst="rect">
            <a:avLst/>
          </a:prstGeom>
          <a:solidFill>
            <a:srgbClr val="FAF6EE"/>
          </a:solidFill>
          <a:ln w="12700">
            <a:solidFill>
              <a:srgbClr val="C25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9967" y="3017520"/>
            <a:ext cx="548640" cy="365760"/>
          </a:xfrm>
          <a:prstGeom prst="rect">
            <a:avLst/>
          </a:prstGeom>
          <a:noFill/>
        </p:spPr>
        <p:txBody>
          <a:bodyPr wrap="square" lIns="0" rIns="0" tIns="0" bIns="0" anchor="t">
            <a:spAutoFit/>
          </a:bodyPr>
          <a:lstStyle/>
          <a:p>
            <a:pPr algn="l"/>
            <a:r>
              <a:rPr sz="1200" b="1" i="0">
                <a:solidFill>
                  <a:srgbClr val="C25E2A"/>
                </a:solidFill>
                <a:latin typeface="Georgia"/>
              </a:rPr>
              <a:t>02</a:t>
            </a:r>
          </a:p>
        </p:txBody>
      </p:sp>
      <p:sp>
        <p:nvSpPr>
          <p:cNvPr id="15" name="TextBox 14"/>
          <p:cNvSpPr txBox="1"/>
          <p:nvPr/>
        </p:nvSpPr>
        <p:spPr>
          <a:xfrm>
            <a:off x="4769967" y="3474720"/>
            <a:ext cx="2651760" cy="640080"/>
          </a:xfrm>
          <a:prstGeom prst="rect">
            <a:avLst/>
          </a:prstGeom>
          <a:noFill/>
        </p:spPr>
        <p:txBody>
          <a:bodyPr wrap="square" lIns="0" rIns="0" tIns="0" bIns="0" anchor="t">
            <a:spAutoFit/>
          </a:bodyPr>
          <a:lstStyle/>
          <a:p>
            <a:pPr algn="l"/>
            <a:r>
              <a:rPr sz="2600" b="0" i="0">
                <a:solidFill>
                  <a:srgbClr val="6B3410"/>
                </a:solidFill>
                <a:latin typeface="Georgia"/>
              </a:rPr>
              <a:t>Bewegung</a:t>
            </a:r>
          </a:p>
        </p:txBody>
      </p:sp>
      <p:sp>
        <p:nvSpPr>
          <p:cNvPr id="16" name="TextBox 15"/>
          <p:cNvSpPr txBox="1"/>
          <p:nvPr/>
        </p:nvSpPr>
        <p:spPr>
          <a:xfrm>
            <a:off x="4769967" y="4114800"/>
            <a:ext cx="2651760" cy="365760"/>
          </a:xfrm>
          <a:prstGeom prst="rect">
            <a:avLst/>
          </a:prstGeom>
          <a:noFill/>
        </p:spPr>
        <p:txBody>
          <a:bodyPr wrap="square" lIns="0" rIns="0" tIns="0" bIns="0" anchor="t">
            <a:spAutoFit/>
          </a:bodyPr>
          <a:lstStyle/>
          <a:p>
            <a:pPr algn="l"/>
            <a:r>
              <a:rPr sz="1300" b="0" i="1">
                <a:solidFill>
                  <a:srgbClr val="C25E2A"/>
                </a:solidFill>
                <a:latin typeface="Georgia"/>
              </a:rPr>
              <a:t>Movement</a:t>
            </a:r>
          </a:p>
        </p:txBody>
      </p:sp>
      <p:sp>
        <p:nvSpPr>
          <p:cNvPr id="17" name="TextBox 16"/>
          <p:cNvSpPr txBox="1"/>
          <p:nvPr/>
        </p:nvSpPr>
        <p:spPr>
          <a:xfrm>
            <a:off x="4769967" y="4572000"/>
            <a:ext cx="2651760" cy="914400"/>
          </a:xfrm>
          <a:prstGeom prst="rect">
            <a:avLst/>
          </a:prstGeom>
          <a:noFill/>
        </p:spPr>
        <p:txBody>
          <a:bodyPr wrap="square" lIns="0" rIns="0" tIns="0" bIns="0" anchor="t">
            <a:spAutoFit/>
          </a:bodyPr>
          <a:lstStyle/>
          <a:p>
            <a:pPr algn="l"/>
            <a:r>
              <a:rPr sz="1200" b="0" i="0">
                <a:solidFill>
                  <a:srgbClr val="3A1F0E"/>
                </a:solidFill>
                <a:latin typeface="Helvetica"/>
              </a:rPr>
              <a:t>Tanz als Gebet. Atemarbeit und somatische Praxis bringen dich in deinen Körper.</a:t>
            </a:r>
          </a:p>
        </p:txBody>
      </p:sp>
      <p:sp>
        <p:nvSpPr>
          <p:cNvPr id="18" name="Rectangle 17"/>
          <p:cNvSpPr/>
          <p:nvPr/>
        </p:nvSpPr>
        <p:spPr>
          <a:xfrm>
            <a:off x="8061807" y="2743200"/>
            <a:ext cx="3383280" cy="2926080"/>
          </a:xfrm>
          <a:prstGeom prst="rect">
            <a:avLst/>
          </a:prstGeom>
          <a:solidFill>
            <a:srgbClr val="FAF6EE"/>
          </a:solidFill>
          <a:ln w="12700">
            <a:solidFill>
              <a:srgbClr val="C25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27567" y="3017520"/>
            <a:ext cx="548640" cy="365760"/>
          </a:xfrm>
          <a:prstGeom prst="rect">
            <a:avLst/>
          </a:prstGeom>
          <a:noFill/>
        </p:spPr>
        <p:txBody>
          <a:bodyPr wrap="square" lIns="0" rIns="0" tIns="0" bIns="0" anchor="t">
            <a:spAutoFit/>
          </a:bodyPr>
          <a:lstStyle/>
          <a:p>
            <a:pPr algn="l"/>
            <a:r>
              <a:rPr sz="1200" b="1" i="0">
                <a:solidFill>
                  <a:srgbClr val="C25E2A"/>
                </a:solidFill>
                <a:latin typeface="Georgia"/>
              </a:rPr>
              <a:t>03</a:t>
            </a:r>
          </a:p>
        </p:txBody>
      </p:sp>
      <p:sp>
        <p:nvSpPr>
          <p:cNvPr id="20" name="TextBox 19"/>
          <p:cNvSpPr txBox="1"/>
          <p:nvPr/>
        </p:nvSpPr>
        <p:spPr>
          <a:xfrm>
            <a:off x="8427567" y="3474720"/>
            <a:ext cx="2651760" cy="640080"/>
          </a:xfrm>
          <a:prstGeom prst="rect">
            <a:avLst/>
          </a:prstGeom>
          <a:noFill/>
        </p:spPr>
        <p:txBody>
          <a:bodyPr wrap="square" lIns="0" rIns="0" tIns="0" bIns="0" anchor="t">
            <a:spAutoFit/>
          </a:bodyPr>
          <a:lstStyle/>
          <a:p>
            <a:pPr algn="l"/>
            <a:r>
              <a:rPr sz="2600" b="0" i="0">
                <a:solidFill>
                  <a:srgbClr val="6B3410"/>
                </a:solidFill>
                <a:latin typeface="Georgia"/>
              </a:rPr>
              <a:t>Natur</a:t>
            </a:r>
          </a:p>
        </p:txBody>
      </p:sp>
      <p:sp>
        <p:nvSpPr>
          <p:cNvPr id="21" name="TextBox 20"/>
          <p:cNvSpPr txBox="1"/>
          <p:nvPr/>
        </p:nvSpPr>
        <p:spPr>
          <a:xfrm>
            <a:off x="8427567" y="4114800"/>
            <a:ext cx="2651760" cy="365760"/>
          </a:xfrm>
          <a:prstGeom prst="rect">
            <a:avLst/>
          </a:prstGeom>
          <a:noFill/>
        </p:spPr>
        <p:txBody>
          <a:bodyPr wrap="square" lIns="0" rIns="0" tIns="0" bIns="0" anchor="t">
            <a:spAutoFit/>
          </a:bodyPr>
          <a:lstStyle/>
          <a:p>
            <a:pPr algn="l"/>
            <a:r>
              <a:rPr sz="1300" b="0" i="1">
                <a:solidFill>
                  <a:srgbClr val="C25E2A"/>
                </a:solidFill>
                <a:latin typeface="Georgia"/>
              </a:rPr>
              <a:t>Nature</a:t>
            </a:r>
          </a:p>
        </p:txBody>
      </p:sp>
      <p:sp>
        <p:nvSpPr>
          <p:cNvPr id="22" name="TextBox 21"/>
          <p:cNvSpPr txBox="1"/>
          <p:nvPr/>
        </p:nvSpPr>
        <p:spPr>
          <a:xfrm>
            <a:off x="8427567" y="4572000"/>
            <a:ext cx="2651760" cy="914400"/>
          </a:xfrm>
          <a:prstGeom prst="rect">
            <a:avLst/>
          </a:prstGeom>
          <a:noFill/>
        </p:spPr>
        <p:txBody>
          <a:bodyPr wrap="square" lIns="0" rIns="0" tIns="0" bIns="0" anchor="t">
            <a:spAutoFit/>
          </a:bodyPr>
          <a:lstStyle/>
          <a:p>
            <a:pPr algn="l"/>
            <a:r>
              <a:rPr sz="1200" b="0" i="0">
                <a:solidFill>
                  <a:srgbClr val="3A1F0E"/>
                </a:solidFill>
                <a:latin typeface="Helvetica"/>
              </a:rPr>
              <a:t>Die Erde als Lehrerin. Wir gehen raus, schlafen draußen, hören zu.</a:t>
            </a:r>
          </a:p>
        </p:txBody>
      </p:sp>
      <p:sp>
        <p:nvSpPr>
          <p:cNvPr id="23" name="TextBox 22"/>
          <p:cNvSpPr txBox="1"/>
          <p:nvPr/>
        </p:nvSpPr>
        <p:spPr>
          <a:xfrm>
            <a:off x="731520" y="6492240"/>
            <a:ext cx="9144000" cy="274320"/>
          </a:xfrm>
          <a:prstGeom prst="rect">
            <a:avLst/>
          </a:prstGeom>
          <a:noFill/>
        </p:spPr>
        <p:txBody>
          <a:bodyPr wrap="square" lIns="0" rIns="0" tIns="0" bIns="0" anchor="t">
            <a:spAutoFit/>
          </a:bodyPr>
          <a:lstStyle/>
          <a:p>
            <a:pPr algn="l"/>
            <a:r>
              <a:rPr sz="900" b="0" i="1">
                <a:solidFill>
                  <a:srgbClr val="3A1F0E"/>
                </a:solidFill>
                <a:latin typeface="Helvetica"/>
              </a:rPr>
              <a:t>Soul² · Markenvorlage</a:t>
            </a:r>
          </a:p>
        </p:txBody>
      </p:sp>
      <p:sp>
        <p:nvSpPr>
          <p:cNvPr id="24" name="TextBox 23"/>
          <p:cNvSpPr txBox="1"/>
          <p:nvPr/>
        </p:nvSpPr>
        <p:spPr>
          <a:xfrm>
            <a:off x="10515600" y="6492240"/>
            <a:ext cx="1371600" cy="274320"/>
          </a:xfrm>
          <a:prstGeom prst="rect">
            <a:avLst/>
          </a:prstGeom>
          <a:noFill/>
        </p:spPr>
        <p:txBody>
          <a:bodyPr wrap="square" lIns="0" rIns="0" tIns="0" bIns="0" anchor="t">
            <a:spAutoFit/>
          </a:bodyPr>
          <a:lstStyle/>
          <a:p>
            <a:pPr algn="r"/>
            <a:r>
              <a:rPr sz="900" b="1" i="0">
                <a:solidFill>
                  <a:srgbClr val="6B3410"/>
                </a:solidFill>
                <a:latin typeface="Helvetica"/>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5_nature_scene.png"/>
          <p:cNvPicPr>
            <a:picLocks noChangeAspect="1"/>
          </p:cNvPicPr>
          <p:nvPr/>
        </p:nvPicPr>
        <p:blipFill>
          <a:blip r:embed="rId2"/>
          <a:stretch>
            <a:fillRect/>
          </a:stretch>
        </p:blipFill>
        <p:spPr>
          <a:xfrm>
            <a:off x="548640" y="822960"/>
            <a:ext cx="5943600" cy="5303520"/>
          </a:xfrm>
          <a:prstGeom prst="rect">
            <a:avLst/>
          </a:prstGeom>
        </p:spPr>
      </p:pic>
      <p:sp>
        <p:nvSpPr>
          <p:cNvPr id="5" name="Rectangle 4"/>
          <p:cNvSpPr/>
          <p:nvPr/>
        </p:nvSpPr>
        <p:spPr>
          <a:xfrm>
            <a:off x="777240" y="1051560"/>
            <a:ext cx="5943600" cy="5303520"/>
          </a:xfrm>
          <a:prstGeom prst="rect">
            <a:avLst/>
          </a:prstGeom>
          <a:noFill/>
          <a:ln w="12700">
            <a:solidFill>
              <a:srgbClr val="C25E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1188720"/>
            <a:ext cx="4572000" cy="365760"/>
          </a:xfrm>
          <a:prstGeom prst="rect">
            <a:avLst/>
          </a:prstGeom>
          <a:noFill/>
        </p:spPr>
        <p:txBody>
          <a:bodyPr wrap="square" lIns="0" rIns="0" tIns="0" bIns="0" anchor="t">
            <a:spAutoFit/>
          </a:bodyPr>
          <a:lstStyle/>
          <a:p>
            <a:pPr algn="l"/>
            <a:r>
              <a:rPr sz="1100" b="1" i="0" spc="400">
                <a:solidFill>
                  <a:srgbClr val="C25E2A"/>
                </a:solidFill>
                <a:latin typeface="Helvetica"/>
              </a:rPr>
              <a:t>UNSERE GESCHICHTE · OUR STORY</a:t>
            </a:r>
          </a:p>
        </p:txBody>
      </p:sp>
      <p:sp>
        <p:nvSpPr>
          <p:cNvPr id="7" name="TextBox 6"/>
          <p:cNvSpPr txBox="1"/>
          <p:nvPr/>
        </p:nvSpPr>
        <p:spPr>
          <a:xfrm>
            <a:off x="6949440" y="1554480"/>
            <a:ext cx="4846320" cy="1280160"/>
          </a:xfrm>
          <a:prstGeom prst="rect">
            <a:avLst/>
          </a:prstGeom>
          <a:noFill/>
        </p:spPr>
        <p:txBody>
          <a:bodyPr wrap="square" lIns="0" rIns="0" tIns="0" bIns="0" anchor="t">
            <a:spAutoFit/>
          </a:bodyPr>
          <a:lstStyle/>
          <a:p>
            <a:pPr algn="l"/>
            <a:r>
              <a:rPr sz="3600" b="0" i="0">
                <a:solidFill>
                  <a:srgbClr val="6B3410"/>
                </a:solidFill>
                <a:latin typeface="Georgia"/>
              </a:rPr>
              <a:t>Geboren aus dem</a:t>
            </a:r>
          </a:p>
        </p:txBody>
      </p:sp>
      <p:sp>
        <p:nvSpPr>
          <p:cNvPr id="8" name="TextBox 7"/>
          <p:cNvSpPr txBox="1"/>
          <p:nvPr/>
        </p:nvSpPr>
        <p:spPr>
          <a:xfrm>
            <a:off x="6949440" y="2377440"/>
            <a:ext cx="4846320" cy="1280160"/>
          </a:xfrm>
          <a:prstGeom prst="rect">
            <a:avLst/>
          </a:prstGeom>
          <a:noFill/>
        </p:spPr>
        <p:txBody>
          <a:bodyPr wrap="square" lIns="0" rIns="0" tIns="0" bIns="0" anchor="t">
            <a:spAutoFit/>
          </a:bodyPr>
          <a:lstStyle/>
          <a:p>
            <a:pPr algn="l"/>
            <a:r>
              <a:rPr sz="6400" b="0" i="1">
                <a:solidFill>
                  <a:srgbClr val="C25E2A"/>
                </a:solidFill>
                <a:latin typeface="Brush Script MT"/>
              </a:rPr>
              <a:t>Feuer im Wald</a:t>
            </a:r>
          </a:p>
        </p:txBody>
      </p:sp>
      <p:sp>
        <p:nvSpPr>
          <p:cNvPr id="9" name="TextBox 8"/>
          <p:cNvSpPr txBox="1"/>
          <p:nvPr/>
        </p:nvSpPr>
        <p:spPr>
          <a:xfrm>
            <a:off x="6949440" y="3383280"/>
            <a:ext cx="4846320" cy="365760"/>
          </a:xfrm>
          <a:prstGeom prst="rect">
            <a:avLst/>
          </a:prstGeom>
          <a:noFill/>
        </p:spPr>
        <p:txBody>
          <a:bodyPr wrap="square" lIns="0" rIns="0" tIns="0" bIns="0" anchor="t">
            <a:spAutoFit/>
          </a:bodyPr>
          <a:lstStyle/>
          <a:p>
            <a:pPr algn="l"/>
            <a:r>
              <a:rPr sz="1300" b="0" i="1">
                <a:solidFill>
                  <a:srgbClr val="C25E2A"/>
                </a:solidFill>
                <a:latin typeface="Georgia"/>
              </a:rPr>
              <a:t>— Born from the fire in the forest —</a:t>
            </a:r>
          </a:p>
        </p:txBody>
      </p:sp>
      <p:sp>
        <p:nvSpPr>
          <p:cNvPr id="10" name="TextBox 9"/>
          <p:cNvSpPr txBox="1"/>
          <p:nvPr/>
        </p:nvSpPr>
        <p:spPr>
          <a:xfrm>
            <a:off x="6949440" y="3931920"/>
            <a:ext cx="4846320" cy="1828800"/>
          </a:xfrm>
          <a:prstGeom prst="rect">
            <a:avLst/>
          </a:prstGeom>
          <a:noFill/>
        </p:spPr>
        <p:txBody>
          <a:bodyPr wrap="square" lIns="0" rIns="0" tIns="0" bIns="0" anchor="t">
            <a:spAutoFit/>
          </a:bodyPr>
          <a:lstStyle/>
          <a:p>
            <a:pPr algn="l"/>
            <a:r>
              <a:rPr sz="1300" b="0" i="0">
                <a:solidFill>
                  <a:srgbClr val="3A1F0E"/>
                </a:solidFill>
                <a:latin typeface="Helvetica"/>
              </a:rPr>
              <a:t>Soul² entstand an einem Sommerabend, als sich zwölf Fremde um ein Lagerfeuer setzten und am nächsten Morgen als Familie wieder aufstanden. Seitdem kuratieren wir Erlebnisse, in denen Körper, Geist und Erde sich wieder berühren.</a:t>
            </a:r>
          </a:p>
        </p:txBody>
      </p:sp>
      <p:sp>
        <p:nvSpPr>
          <p:cNvPr id="11" name="TextBox 10"/>
          <p:cNvSpPr txBox="1"/>
          <p:nvPr/>
        </p:nvSpPr>
        <p:spPr>
          <a:xfrm>
            <a:off x="6949440" y="5669280"/>
            <a:ext cx="4846320" cy="365760"/>
          </a:xfrm>
          <a:prstGeom prst="rect">
            <a:avLst/>
          </a:prstGeom>
          <a:noFill/>
        </p:spPr>
        <p:txBody>
          <a:bodyPr wrap="square" lIns="0" rIns="0" tIns="0" bIns="0" anchor="t">
            <a:spAutoFit/>
          </a:bodyPr>
          <a:lstStyle/>
          <a:p>
            <a:pPr algn="l"/>
            <a:r>
              <a:rPr sz="1100" b="1" i="1">
                <a:solidFill>
                  <a:srgbClr val="C25E2A"/>
                </a:solidFill>
                <a:latin typeface="Georgia"/>
              </a:rPr>
              <a:t>soul-squared.com</a:t>
            </a:r>
          </a:p>
        </p:txBody>
      </p:sp>
      <p:sp>
        <p:nvSpPr>
          <p:cNvPr id="12" name="TextBox 11"/>
          <p:cNvSpPr txBox="1"/>
          <p:nvPr/>
        </p:nvSpPr>
        <p:spPr>
          <a:xfrm>
            <a:off x="731520" y="6492240"/>
            <a:ext cx="9144000" cy="274320"/>
          </a:xfrm>
          <a:prstGeom prst="rect">
            <a:avLst/>
          </a:prstGeom>
          <a:noFill/>
        </p:spPr>
        <p:txBody>
          <a:bodyPr wrap="square" lIns="0" rIns="0" tIns="0" bIns="0" anchor="t">
            <a:spAutoFit/>
          </a:bodyPr>
          <a:lstStyle/>
          <a:p>
            <a:pPr algn="l"/>
            <a:r>
              <a:rPr sz="900" b="0" i="1">
                <a:solidFill>
                  <a:srgbClr val="3A1F0E"/>
                </a:solidFill>
                <a:latin typeface="Helvetica"/>
              </a:rPr>
              <a:t>Soul² · Markenvorlage</a:t>
            </a:r>
          </a:p>
        </p:txBody>
      </p:sp>
      <p:sp>
        <p:nvSpPr>
          <p:cNvPr id="13" name="TextBox 12"/>
          <p:cNvSpPr txBox="1"/>
          <p:nvPr/>
        </p:nvSpPr>
        <p:spPr>
          <a:xfrm>
            <a:off x="10515600" y="6492240"/>
            <a:ext cx="1371600" cy="274320"/>
          </a:xfrm>
          <a:prstGeom prst="rect">
            <a:avLst/>
          </a:prstGeom>
          <a:noFill/>
        </p:spPr>
        <p:txBody>
          <a:bodyPr wrap="square" lIns="0" rIns="0" tIns="0" bIns="0" anchor="t">
            <a:spAutoFit/>
          </a:bodyPr>
          <a:lstStyle/>
          <a:p>
            <a:pPr algn="r"/>
            <a:r>
              <a:rPr sz="900" b="1" i="0">
                <a:solidFill>
                  <a:srgbClr val="6B3410"/>
                </a:solidFill>
                <a:latin typeface="Helvetica"/>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1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1_hero_sunrise_dance.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3A1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57200"/>
            <a:ext cx="1828800" cy="1828800"/>
          </a:xfrm>
          <a:prstGeom prst="rect">
            <a:avLst/>
          </a:prstGeom>
          <a:noFill/>
        </p:spPr>
        <p:txBody>
          <a:bodyPr wrap="square" lIns="0" rIns="0" tIns="0" bIns="0" anchor="t">
            <a:spAutoFit/>
          </a:bodyPr>
          <a:lstStyle/>
          <a:p>
            <a:pPr algn="l"/>
            <a:r>
              <a:rPr sz="20000" b="0" i="1">
                <a:solidFill>
                  <a:srgbClr val="D4A047"/>
                </a:solidFill>
                <a:latin typeface="Georgia"/>
              </a:rPr>
              <a:t>“</a:t>
            </a:r>
          </a:p>
        </p:txBody>
      </p:sp>
      <p:sp>
        <p:nvSpPr>
          <p:cNvPr id="6" name="TextBox 5"/>
          <p:cNvSpPr txBox="1"/>
          <p:nvPr/>
        </p:nvSpPr>
        <p:spPr>
          <a:xfrm>
            <a:off x="1828800" y="2286000"/>
            <a:ext cx="8686800" cy="2286000"/>
          </a:xfrm>
          <a:prstGeom prst="rect">
            <a:avLst/>
          </a:prstGeom>
          <a:noFill/>
        </p:spPr>
        <p:txBody>
          <a:bodyPr wrap="square" lIns="0" rIns="0" tIns="0" bIns="0" anchor="t">
            <a:spAutoFit/>
          </a:bodyPr>
          <a:lstStyle/>
          <a:p>
            <a:pPr algn="l"/>
            <a:r>
              <a:rPr sz="3200" b="0" i="1">
                <a:solidFill>
                  <a:srgbClr val="F7EFE0"/>
                </a:solidFill>
                <a:latin typeface="Georgia"/>
              </a:rPr>
              <a:t>And those who were seen dancing
were thought to be insane
by those who could not hear the music.</a:t>
            </a:r>
          </a:p>
        </p:txBody>
      </p:sp>
      <p:sp>
        <p:nvSpPr>
          <p:cNvPr id="7" name="TextBox 6"/>
          <p:cNvSpPr txBox="1"/>
          <p:nvPr/>
        </p:nvSpPr>
        <p:spPr>
          <a:xfrm>
            <a:off x="1828800" y="5212080"/>
            <a:ext cx="8686800" cy="457200"/>
          </a:xfrm>
          <a:prstGeom prst="rect">
            <a:avLst/>
          </a:prstGeom>
          <a:noFill/>
        </p:spPr>
        <p:txBody>
          <a:bodyPr wrap="square" lIns="0" rIns="0" tIns="0" bIns="0" anchor="t">
            <a:spAutoFit/>
          </a:bodyPr>
          <a:lstStyle/>
          <a:p>
            <a:pPr algn="l"/>
            <a:r>
              <a:rPr sz="1400" b="1" i="0" spc="300">
                <a:solidFill>
                  <a:srgbClr val="D4A047"/>
                </a:solidFill>
                <a:latin typeface="Helvetica"/>
              </a:rPr>
              <a:t>— Friedrich Nietzsche</a:t>
            </a:r>
          </a:p>
        </p:txBody>
      </p:sp>
      <p:cxnSp>
        <p:nvCxnSpPr>
          <p:cNvPr id="8" name="Connector 7"/>
          <p:cNvCxnSpPr/>
          <p:nvPr/>
        </p:nvCxnSpPr>
        <p:spPr>
          <a:xfrm>
            <a:off x="1828800" y="5166360"/>
            <a:ext cx="457200" cy="0"/>
          </a:xfrm>
          <a:prstGeom prst="line">
            <a:avLst/>
          </a:prstGeom>
          <a:ln w="12700">
            <a:solidFill>
              <a:srgbClr val="D4A04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7315200" cy="365760"/>
          </a:xfrm>
          <a:prstGeom prst="rect">
            <a:avLst/>
          </a:prstGeom>
          <a:noFill/>
        </p:spPr>
        <p:txBody>
          <a:bodyPr wrap="square" lIns="0" rIns="0" tIns="0" bIns="0" anchor="t">
            <a:spAutoFit/>
          </a:bodyPr>
          <a:lstStyle/>
          <a:p>
            <a:pPr algn="l"/>
            <a:r>
              <a:rPr sz="1100" b="1" i="0" spc="400">
                <a:solidFill>
                  <a:srgbClr val="C25E2A"/>
                </a:solidFill>
                <a:latin typeface="Helvetica"/>
              </a:rPr>
              <a:t>KOMMENDE EVENTS · UPCOMING</a:t>
            </a:r>
          </a:p>
        </p:txBody>
      </p:sp>
      <p:sp>
        <p:nvSpPr>
          <p:cNvPr id="5" name="TextBox 4"/>
          <p:cNvSpPr txBox="1"/>
          <p:nvPr/>
        </p:nvSpPr>
        <p:spPr>
          <a:xfrm>
            <a:off x="731520" y="914400"/>
            <a:ext cx="10058400" cy="1097280"/>
          </a:xfrm>
          <a:prstGeom prst="rect">
            <a:avLst/>
          </a:prstGeom>
          <a:noFill/>
        </p:spPr>
        <p:txBody>
          <a:bodyPr wrap="square" lIns="0" rIns="0" tIns="0" bIns="0" anchor="t">
            <a:spAutoFit/>
          </a:bodyPr>
          <a:lstStyle/>
          <a:p>
            <a:pPr algn="l"/>
            <a:r>
              <a:rPr sz="4400" b="0" i="0">
                <a:solidFill>
                  <a:srgbClr val="6B3410"/>
                </a:solidFill>
                <a:latin typeface="Georgia"/>
              </a:rPr>
              <a:t>Sommer 2026</a:t>
            </a:r>
          </a:p>
        </p:txBody>
      </p:sp>
      <p:sp>
        <p:nvSpPr>
          <p:cNvPr id="6" name="TextBox 5"/>
          <p:cNvSpPr txBox="1"/>
          <p:nvPr/>
        </p:nvSpPr>
        <p:spPr>
          <a:xfrm>
            <a:off x="731520" y="1737360"/>
            <a:ext cx="10058400" cy="457200"/>
          </a:xfrm>
          <a:prstGeom prst="rect">
            <a:avLst/>
          </a:prstGeom>
          <a:noFill/>
        </p:spPr>
        <p:txBody>
          <a:bodyPr wrap="square" lIns="0" rIns="0" tIns="0" bIns="0" anchor="t">
            <a:spAutoFit/>
          </a:bodyPr>
          <a:lstStyle/>
          <a:p>
            <a:pPr algn="l"/>
            <a:r>
              <a:rPr sz="1500" b="0" i="1">
                <a:solidFill>
                  <a:srgbClr val="C25E2A"/>
                </a:solidFill>
                <a:latin typeface="Georgia"/>
              </a:rPr>
              <a:t>— Summer 2026 —</a:t>
            </a:r>
          </a:p>
        </p:txBody>
      </p:sp>
      <p:cxnSp>
        <p:nvCxnSpPr>
          <p:cNvPr id="7" name="Connector 6"/>
          <p:cNvCxnSpPr/>
          <p:nvPr/>
        </p:nvCxnSpPr>
        <p:spPr>
          <a:xfrm>
            <a:off x="731520" y="2377440"/>
            <a:ext cx="1554480" cy="0"/>
          </a:xfrm>
          <a:prstGeom prst="line">
            <a:avLst/>
          </a:prstGeom>
          <a:ln w="15240">
            <a:solidFill>
              <a:srgbClr val="C25E2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31520" y="2743200"/>
            <a:ext cx="1280160" cy="64008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80360"/>
            <a:ext cx="1280160" cy="365760"/>
          </a:xfrm>
          <a:prstGeom prst="rect">
            <a:avLst/>
          </a:prstGeom>
          <a:noFill/>
        </p:spPr>
        <p:txBody>
          <a:bodyPr wrap="square" lIns="0" rIns="0" tIns="0" bIns="0" anchor="t">
            <a:spAutoFit/>
          </a:bodyPr>
          <a:lstStyle/>
          <a:p>
            <a:pPr algn="ctr"/>
            <a:r>
              <a:rPr sz="1400" b="1" i="0">
                <a:solidFill>
                  <a:srgbClr val="F7EFE0"/>
                </a:solidFill>
                <a:latin typeface="Helvetica"/>
              </a:rPr>
              <a:t>14 JUN</a:t>
            </a:r>
          </a:p>
        </p:txBody>
      </p:sp>
      <p:sp>
        <p:nvSpPr>
          <p:cNvPr id="10" name="TextBox 9"/>
          <p:cNvSpPr txBox="1"/>
          <p:nvPr/>
        </p:nvSpPr>
        <p:spPr>
          <a:xfrm>
            <a:off x="2194560" y="2761488"/>
            <a:ext cx="5943600" cy="411480"/>
          </a:xfrm>
          <a:prstGeom prst="rect">
            <a:avLst/>
          </a:prstGeom>
          <a:noFill/>
        </p:spPr>
        <p:txBody>
          <a:bodyPr wrap="square" lIns="0" rIns="0" tIns="0" bIns="0" anchor="t">
            <a:spAutoFit/>
          </a:bodyPr>
          <a:lstStyle/>
          <a:p>
            <a:pPr algn="l"/>
            <a:r>
              <a:rPr sz="1800" b="0" i="0">
                <a:solidFill>
                  <a:srgbClr val="6B3410"/>
                </a:solidFill>
                <a:latin typeface="Georgia"/>
              </a:rPr>
              <a:t>Ekstatischer Tanz am Vollmond</a:t>
            </a:r>
          </a:p>
        </p:txBody>
      </p:sp>
      <p:sp>
        <p:nvSpPr>
          <p:cNvPr id="11" name="TextBox 10"/>
          <p:cNvSpPr txBox="1"/>
          <p:nvPr/>
        </p:nvSpPr>
        <p:spPr>
          <a:xfrm>
            <a:off x="2194560" y="3127248"/>
            <a:ext cx="5943600" cy="320040"/>
          </a:xfrm>
          <a:prstGeom prst="rect">
            <a:avLst/>
          </a:prstGeom>
          <a:noFill/>
        </p:spPr>
        <p:txBody>
          <a:bodyPr wrap="square" lIns="0" rIns="0" tIns="0" bIns="0" anchor="t">
            <a:spAutoFit/>
          </a:bodyPr>
          <a:lstStyle/>
          <a:p>
            <a:pPr algn="l"/>
            <a:r>
              <a:rPr sz="1100" b="0" i="1">
                <a:solidFill>
                  <a:srgbClr val="C25E2A"/>
                </a:solidFill>
                <a:latin typeface="Georgia"/>
              </a:rPr>
              <a:t>Ecstatic Dance · Full Moon</a:t>
            </a:r>
          </a:p>
        </p:txBody>
      </p:sp>
      <p:sp>
        <p:nvSpPr>
          <p:cNvPr id="12" name="TextBox 11"/>
          <p:cNvSpPr txBox="1"/>
          <p:nvPr/>
        </p:nvSpPr>
        <p:spPr>
          <a:xfrm>
            <a:off x="8412480" y="2788920"/>
            <a:ext cx="3108960" cy="365760"/>
          </a:xfrm>
          <a:prstGeom prst="rect">
            <a:avLst/>
          </a:prstGeom>
          <a:noFill/>
        </p:spPr>
        <p:txBody>
          <a:bodyPr wrap="square" lIns="0" rIns="0" tIns="0" bIns="0" anchor="t">
            <a:spAutoFit/>
          </a:bodyPr>
          <a:lstStyle/>
          <a:p>
            <a:pPr algn="l"/>
            <a:r>
              <a:rPr sz="1100" b="1" i="0">
                <a:solidFill>
                  <a:srgbClr val="3A1F0E"/>
                </a:solidFill>
                <a:latin typeface="Helvetica"/>
              </a:rPr>
              <a:t>Wald-Tempel, Brandenburg</a:t>
            </a:r>
          </a:p>
        </p:txBody>
      </p:sp>
      <p:sp>
        <p:nvSpPr>
          <p:cNvPr id="13" name="TextBox 12"/>
          <p:cNvSpPr txBox="1"/>
          <p:nvPr/>
        </p:nvSpPr>
        <p:spPr>
          <a:xfrm>
            <a:off x="8412480" y="3127248"/>
            <a:ext cx="3108960" cy="365760"/>
          </a:xfrm>
          <a:prstGeom prst="rect">
            <a:avLst/>
          </a:prstGeom>
          <a:noFill/>
        </p:spPr>
        <p:txBody>
          <a:bodyPr wrap="square" lIns="0" rIns="0" tIns="0" bIns="0" anchor="t">
            <a:spAutoFit/>
          </a:bodyPr>
          <a:lstStyle/>
          <a:p>
            <a:pPr algn="l"/>
            <a:r>
              <a:rPr sz="1000" b="0" i="1">
                <a:solidFill>
                  <a:srgbClr val="C25E2A"/>
                </a:solidFill>
                <a:latin typeface="Helvetica"/>
              </a:rPr>
              <a:t>3h · €38</a:t>
            </a:r>
          </a:p>
        </p:txBody>
      </p:sp>
      <p:cxnSp>
        <p:nvCxnSpPr>
          <p:cNvPr id="14" name="Connector 13"/>
          <p:cNvCxnSpPr/>
          <p:nvPr/>
        </p:nvCxnSpPr>
        <p:spPr>
          <a:xfrm>
            <a:off x="731520" y="3520440"/>
            <a:ext cx="10698480" cy="0"/>
          </a:xfrm>
          <a:prstGeom prst="line">
            <a:avLst/>
          </a:prstGeom>
          <a:ln w="6350">
            <a:solidFill>
              <a:srgbClr val="6B341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1520" y="3611880"/>
            <a:ext cx="1280160" cy="64008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49040"/>
            <a:ext cx="1280160" cy="365760"/>
          </a:xfrm>
          <a:prstGeom prst="rect">
            <a:avLst/>
          </a:prstGeom>
          <a:noFill/>
        </p:spPr>
        <p:txBody>
          <a:bodyPr wrap="square" lIns="0" rIns="0" tIns="0" bIns="0" anchor="t">
            <a:spAutoFit/>
          </a:bodyPr>
          <a:lstStyle/>
          <a:p>
            <a:pPr algn="ctr"/>
            <a:r>
              <a:rPr sz="1400" b="1" i="0">
                <a:solidFill>
                  <a:srgbClr val="F7EFE0"/>
                </a:solidFill>
                <a:latin typeface="Helvetica"/>
              </a:rPr>
              <a:t>28 JUN</a:t>
            </a:r>
          </a:p>
        </p:txBody>
      </p:sp>
      <p:sp>
        <p:nvSpPr>
          <p:cNvPr id="17" name="TextBox 16"/>
          <p:cNvSpPr txBox="1"/>
          <p:nvPr/>
        </p:nvSpPr>
        <p:spPr>
          <a:xfrm>
            <a:off x="2194560" y="3630168"/>
            <a:ext cx="5943600" cy="411480"/>
          </a:xfrm>
          <a:prstGeom prst="rect">
            <a:avLst/>
          </a:prstGeom>
          <a:noFill/>
        </p:spPr>
        <p:txBody>
          <a:bodyPr wrap="square" lIns="0" rIns="0" tIns="0" bIns="0" anchor="t">
            <a:spAutoFit/>
          </a:bodyPr>
          <a:lstStyle/>
          <a:p>
            <a:pPr algn="l"/>
            <a:r>
              <a:rPr sz="1800" b="0" i="0">
                <a:solidFill>
                  <a:srgbClr val="6B3410"/>
                </a:solidFill>
                <a:latin typeface="Georgia"/>
              </a:rPr>
              <a:t>Stille &amp; Kakao-Zeremonie</a:t>
            </a:r>
          </a:p>
        </p:txBody>
      </p:sp>
      <p:sp>
        <p:nvSpPr>
          <p:cNvPr id="18" name="TextBox 17"/>
          <p:cNvSpPr txBox="1"/>
          <p:nvPr/>
        </p:nvSpPr>
        <p:spPr>
          <a:xfrm>
            <a:off x="2194560" y="3995928"/>
            <a:ext cx="5943600" cy="320040"/>
          </a:xfrm>
          <a:prstGeom prst="rect">
            <a:avLst/>
          </a:prstGeom>
          <a:noFill/>
        </p:spPr>
        <p:txBody>
          <a:bodyPr wrap="square" lIns="0" rIns="0" tIns="0" bIns="0" anchor="t">
            <a:spAutoFit/>
          </a:bodyPr>
          <a:lstStyle/>
          <a:p>
            <a:pPr algn="l"/>
            <a:r>
              <a:rPr sz="1100" b="0" i="1">
                <a:solidFill>
                  <a:srgbClr val="C25E2A"/>
                </a:solidFill>
                <a:latin typeface="Georgia"/>
              </a:rPr>
              <a:t>Silent Retreat &amp; Cacao</a:t>
            </a:r>
          </a:p>
        </p:txBody>
      </p:sp>
      <p:sp>
        <p:nvSpPr>
          <p:cNvPr id="19" name="TextBox 18"/>
          <p:cNvSpPr txBox="1"/>
          <p:nvPr/>
        </p:nvSpPr>
        <p:spPr>
          <a:xfrm>
            <a:off x="8412480" y="3657600"/>
            <a:ext cx="3108960" cy="365760"/>
          </a:xfrm>
          <a:prstGeom prst="rect">
            <a:avLst/>
          </a:prstGeom>
          <a:noFill/>
        </p:spPr>
        <p:txBody>
          <a:bodyPr wrap="square" lIns="0" rIns="0" tIns="0" bIns="0" anchor="t">
            <a:spAutoFit/>
          </a:bodyPr>
          <a:lstStyle/>
          <a:p>
            <a:pPr algn="l"/>
            <a:r>
              <a:rPr sz="1100" b="1" i="0">
                <a:solidFill>
                  <a:srgbClr val="3A1F0E"/>
                </a:solidFill>
                <a:latin typeface="Helvetica"/>
              </a:rPr>
              <a:t>Klosterhof Eifel</a:t>
            </a:r>
          </a:p>
        </p:txBody>
      </p:sp>
      <p:sp>
        <p:nvSpPr>
          <p:cNvPr id="20" name="TextBox 19"/>
          <p:cNvSpPr txBox="1"/>
          <p:nvPr/>
        </p:nvSpPr>
        <p:spPr>
          <a:xfrm>
            <a:off x="8412480" y="3995928"/>
            <a:ext cx="3108960" cy="365760"/>
          </a:xfrm>
          <a:prstGeom prst="rect">
            <a:avLst/>
          </a:prstGeom>
          <a:noFill/>
        </p:spPr>
        <p:txBody>
          <a:bodyPr wrap="square" lIns="0" rIns="0" tIns="0" bIns="0" anchor="t">
            <a:spAutoFit/>
          </a:bodyPr>
          <a:lstStyle/>
          <a:p>
            <a:pPr algn="l"/>
            <a:r>
              <a:rPr sz="1000" b="0" i="1">
                <a:solidFill>
                  <a:srgbClr val="C25E2A"/>
                </a:solidFill>
                <a:latin typeface="Helvetica"/>
              </a:rPr>
              <a:t>3 Tage · €480</a:t>
            </a:r>
          </a:p>
        </p:txBody>
      </p:sp>
      <p:cxnSp>
        <p:nvCxnSpPr>
          <p:cNvPr id="21" name="Connector 20"/>
          <p:cNvCxnSpPr/>
          <p:nvPr/>
        </p:nvCxnSpPr>
        <p:spPr>
          <a:xfrm>
            <a:off x="731520" y="4389120"/>
            <a:ext cx="10698480" cy="0"/>
          </a:xfrm>
          <a:prstGeom prst="line">
            <a:avLst/>
          </a:prstGeom>
          <a:ln w="6350">
            <a:solidFill>
              <a:srgbClr val="6B3410"/>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31520" y="4480560"/>
            <a:ext cx="1280160" cy="64008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617720"/>
            <a:ext cx="1280160" cy="365760"/>
          </a:xfrm>
          <a:prstGeom prst="rect">
            <a:avLst/>
          </a:prstGeom>
          <a:noFill/>
        </p:spPr>
        <p:txBody>
          <a:bodyPr wrap="square" lIns="0" rIns="0" tIns="0" bIns="0" anchor="t">
            <a:spAutoFit/>
          </a:bodyPr>
          <a:lstStyle/>
          <a:p>
            <a:pPr algn="ctr"/>
            <a:r>
              <a:rPr sz="1400" b="1" i="0">
                <a:solidFill>
                  <a:srgbClr val="F7EFE0"/>
                </a:solidFill>
                <a:latin typeface="Helvetica"/>
              </a:rPr>
              <a:t>12 JUL</a:t>
            </a:r>
          </a:p>
        </p:txBody>
      </p:sp>
      <p:sp>
        <p:nvSpPr>
          <p:cNvPr id="24" name="TextBox 23"/>
          <p:cNvSpPr txBox="1"/>
          <p:nvPr/>
        </p:nvSpPr>
        <p:spPr>
          <a:xfrm>
            <a:off x="2194560" y="4498848"/>
            <a:ext cx="5943600" cy="411480"/>
          </a:xfrm>
          <a:prstGeom prst="rect">
            <a:avLst/>
          </a:prstGeom>
          <a:noFill/>
        </p:spPr>
        <p:txBody>
          <a:bodyPr wrap="square" lIns="0" rIns="0" tIns="0" bIns="0" anchor="t">
            <a:spAutoFit/>
          </a:bodyPr>
          <a:lstStyle/>
          <a:p>
            <a:pPr algn="l"/>
            <a:r>
              <a:rPr sz="1800" b="0" i="0">
                <a:solidFill>
                  <a:srgbClr val="6B3410"/>
                </a:solidFill>
                <a:latin typeface="Georgia"/>
              </a:rPr>
              <a:t>Wildnis-Retreat im Schwarzwald</a:t>
            </a:r>
          </a:p>
        </p:txBody>
      </p:sp>
      <p:sp>
        <p:nvSpPr>
          <p:cNvPr id="25" name="TextBox 24"/>
          <p:cNvSpPr txBox="1"/>
          <p:nvPr/>
        </p:nvSpPr>
        <p:spPr>
          <a:xfrm>
            <a:off x="2194560" y="4864608"/>
            <a:ext cx="5943600" cy="320040"/>
          </a:xfrm>
          <a:prstGeom prst="rect">
            <a:avLst/>
          </a:prstGeom>
          <a:noFill/>
        </p:spPr>
        <p:txBody>
          <a:bodyPr wrap="square" lIns="0" rIns="0" tIns="0" bIns="0" anchor="t">
            <a:spAutoFit/>
          </a:bodyPr>
          <a:lstStyle/>
          <a:p>
            <a:pPr algn="l"/>
            <a:r>
              <a:rPr sz="1100" b="0" i="1">
                <a:solidFill>
                  <a:srgbClr val="C25E2A"/>
                </a:solidFill>
                <a:latin typeface="Georgia"/>
              </a:rPr>
              <a:t>Wilderness Retreat</a:t>
            </a:r>
          </a:p>
        </p:txBody>
      </p:sp>
      <p:sp>
        <p:nvSpPr>
          <p:cNvPr id="26" name="TextBox 25"/>
          <p:cNvSpPr txBox="1"/>
          <p:nvPr/>
        </p:nvSpPr>
        <p:spPr>
          <a:xfrm>
            <a:off x="8412480" y="4526280"/>
            <a:ext cx="3108960" cy="365760"/>
          </a:xfrm>
          <a:prstGeom prst="rect">
            <a:avLst/>
          </a:prstGeom>
          <a:noFill/>
        </p:spPr>
        <p:txBody>
          <a:bodyPr wrap="square" lIns="0" rIns="0" tIns="0" bIns="0" anchor="t">
            <a:spAutoFit/>
          </a:bodyPr>
          <a:lstStyle/>
          <a:p>
            <a:pPr algn="l"/>
            <a:r>
              <a:rPr sz="1100" b="1" i="0">
                <a:solidFill>
                  <a:srgbClr val="3A1F0E"/>
                </a:solidFill>
                <a:latin typeface="Helvetica"/>
              </a:rPr>
              <a:t>Schwarzwald</a:t>
            </a:r>
          </a:p>
        </p:txBody>
      </p:sp>
      <p:sp>
        <p:nvSpPr>
          <p:cNvPr id="27" name="TextBox 26"/>
          <p:cNvSpPr txBox="1"/>
          <p:nvPr/>
        </p:nvSpPr>
        <p:spPr>
          <a:xfrm>
            <a:off x="8412480" y="4864608"/>
            <a:ext cx="3108960" cy="365760"/>
          </a:xfrm>
          <a:prstGeom prst="rect">
            <a:avLst/>
          </a:prstGeom>
          <a:noFill/>
        </p:spPr>
        <p:txBody>
          <a:bodyPr wrap="square" lIns="0" rIns="0" tIns="0" bIns="0" anchor="t">
            <a:spAutoFit/>
          </a:bodyPr>
          <a:lstStyle/>
          <a:p>
            <a:pPr algn="l"/>
            <a:r>
              <a:rPr sz="1000" b="0" i="1">
                <a:solidFill>
                  <a:srgbClr val="C25E2A"/>
                </a:solidFill>
                <a:latin typeface="Helvetica"/>
              </a:rPr>
              <a:t>7 Tage · €890</a:t>
            </a:r>
          </a:p>
        </p:txBody>
      </p:sp>
      <p:cxnSp>
        <p:nvCxnSpPr>
          <p:cNvPr id="28" name="Connector 27"/>
          <p:cNvCxnSpPr/>
          <p:nvPr/>
        </p:nvCxnSpPr>
        <p:spPr>
          <a:xfrm>
            <a:off x="731520" y="5257800"/>
            <a:ext cx="10698480" cy="0"/>
          </a:xfrm>
          <a:prstGeom prst="line">
            <a:avLst/>
          </a:prstGeom>
          <a:ln w="6350">
            <a:solidFill>
              <a:srgbClr val="6B341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31520" y="5349239"/>
            <a:ext cx="1280160" cy="64008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486399"/>
            <a:ext cx="1280160" cy="365760"/>
          </a:xfrm>
          <a:prstGeom prst="rect">
            <a:avLst/>
          </a:prstGeom>
          <a:noFill/>
        </p:spPr>
        <p:txBody>
          <a:bodyPr wrap="square" lIns="0" rIns="0" tIns="0" bIns="0" anchor="t">
            <a:spAutoFit/>
          </a:bodyPr>
          <a:lstStyle/>
          <a:p>
            <a:pPr algn="ctr"/>
            <a:r>
              <a:rPr sz="1400" b="1" i="0">
                <a:solidFill>
                  <a:srgbClr val="F7EFE0"/>
                </a:solidFill>
                <a:latin typeface="Helvetica"/>
              </a:rPr>
              <a:t>23 AUG</a:t>
            </a:r>
          </a:p>
        </p:txBody>
      </p:sp>
      <p:sp>
        <p:nvSpPr>
          <p:cNvPr id="31" name="TextBox 30"/>
          <p:cNvSpPr txBox="1"/>
          <p:nvPr/>
        </p:nvSpPr>
        <p:spPr>
          <a:xfrm>
            <a:off x="2194560" y="5367527"/>
            <a:ext cx="5943600" cy="411480"/>
          </a:xfrm>
          <a:prstGeom prst="rect">
            <a:avLst/>
          </a:prstGeom>
          <a:noFill/>
        </p:spPr>
        <p:txBody>
          <a:bodyPr wrap="square" lIns="0" rIns="0" tIns="0" bIns="0" anchor="t">
            <a:spAutoFit/>
          </a:bodyPr>
          <a:lstStyle/>
          <a:p>
            <a:pPr algn="l"/>
            <a:r>
              <a:rPr sz="1800" b="0" i="0">
                <a:solidFill>
                  <a:srgbClr val="6B3410"/>
                </a:solidFill>
                <a:latin typeface="Georgia"/>
              </a:rPr>
              <a:t>Atem &amp; Trommel Zeremonie</a:t>
            </a:r>
          </a:p>
        </p:txBody>
      </p:sp>
      <p:sp>
        <p:nvSpPr>
          <p:cNvPr id="32" name="TextBox 31"/>
          <p:cNvSpPr txBox="1"/>
          <p:nvPr/>
        </p:nvSpPr>
        <p:spPr>
          <a:xfrm>
            <a:off x="2194560" y="5733287"/>
            <a:ext cx="5943600" cy="320040"/>
          </a:xfrm>
          <a:prstGeom prst="rect">
            <a:avLst/>
          </a:prstGeom>
          <a:noFill/>
        </p:spPr>
        <p:txBody>
          <a:bodyPr wrap="square" lIns="0" rIns="0" tIns="0" bIns="0" anchor="t">
            <a:spAutoFit/>
          </a:bodyPr>
          <a:lstStyle/>
          <a:p>
            <a:pPr algn="l"/>
            <a:r>
              <a:rPr sz="1100" b="0" i="1">
                <a:solidFill>
                  <a:srgbClr val="C25E2A"/>
                </a:solidFill>
                <a:latin typeface="Georgia"/>
              </a:rPr>
              <a:t>Breath &amp; Drum Ceremony</a:t>
            </a:r>
          </a:p>
        </p:txBody>
      </p:sp>
      <p:sp>
        <p:nvSpPr>
          <p:cNvPr id="33" name="TextBox 32"/>
          <p:cNvSpPr txBox="1"/>
          <p:nvPr/>
        </p:nvSpPr>
        <p:spPr>
          <a:xfrm>
            <a:off x="8412480" y="5394959"/>
            <a:ext cx="3108960" cy="365760"/>
          </a:xfrm>
          <a:prstGeom prst="rect">
            <a:avLst/>
          </a:prstGeom>
          <a:noFill/>
        </p:spPr>
        <p:txBody>
          <a:bodyPr wrap="square" lIns="0" rIns="0" tIns="0" bIns="0" anchor="t">
            <a:spAutoFit/>
          </a:bodyPr>
          <a:lstStyle/>
          <a:p>
            <a:pPr algn="l"/>
            <a:r>
              <a:rPr sz="1100" b="1" i="0">
                <a:solidFill>
                  <a:srgbClr val="3A1F0E"/>
                </a:solidFill>
                <a:latin typeface="Helvetica"/>
              </a:rPr>
              <a:t>Berlin Mitte</a:t>
            </a:r>
          </a:p>
        </p:txBody>
      </p:sp>
      <p:sp>
        <p:nvSpPr>
          <p:cNvPr id="34" name="TextBox 33"/>
          <p:cNvSpPr txBox="1"/>
          <p:nvPr/>
        </p:nvSpPr>
        <p:spPr>
          <a:xfrm>
            <a:off x="8412480" y="5733287"/>
            <a:ext cx="3108960" cy="365760"/>
          </a:xfrm>
          <a:prstGeom prst="rect">
            <a:avLst/>
          </a:prstGeom>
          <a:noFill/>
        </p:spPr>
        <p:txBody>
          <a:bodyPr wrap="square" lIns="0" rIns="0" tIns="0" bIns="0" anchor="t">
            <a:spAutoFit/>
          </a:bodyPr>
          <a:lstStyle/>
          <a:p>
            <a:pPr algn="l"/>
            <a:r>
              <a:rPr sz="1000" b="0" i="1">
                <a:solidFill>
                  <a:srgbClr val="C25E2A"/>
                </a:solidFill>
                <a:latin typeface="Helvetica"/>
              </a:rPr>
              <a:t>4h · €65</a:t>
            </a:r>
          </a:p>
        </p:txBody>
      </p:sp>
      <p:sp>
        <p:nvSpPr>
          <p:cNvPr id="35" name="TextBox 34"/>
          <p:cNvSpPr txBox="1"/>
          <p:nvPr/>
        </p:nvSpPr>
        <p:spPr>
          <a:xfrm>
            <a:off x="731520" y="6492240"/>
            <a:ext cx="9144000" cy="274320"/>
          </a:xfrm>
          <a:prstGeom prst="rect">
            <a:avLst/>
          </a:prstGeom>
          <a:noFill/>
        </p:spPr>
        <p:txBody>
          <a:bodyPr wrap="square" lIns="0" rIns="0" tIns="0" bIns="0" anchor="t">
            <a:spAutoFit/>
          </a:bodyPr>
          <a:lstStyle/>
          <a:p>
            <a:pPr algn="l"/>
            <a:r>
              <a:rPr sz="900" b="0" i="1">
                <a:solidFill>
                  <a:srgbClr val="3A1F0E"/>
                </a:solidFill>
                <a:latin typeface="Helvetica"/>
              </a:rPr>
              <a:t>Soul² · Markenvorlage</a:t>
            </a:r>
          </a:p>
        </p:txBody>
      </p:sp>
      <p:sp>
        <p:nvSpPr>
          <p:cNvPr id="36" name="TextBox 35"/>
          <p:cNvSpPr txBox="1"/>
          <p:nvPr/>
        </p:nvSpPr>
        <p:spPr>
          <a:xfrm>
            <a:off x="10515600" y="6492240"/>
            <a:ext cx="1371600" cy="274320"/>
          </a:xfrm>
          <a:prstGeom prst="rect">
            <a:avLst/>
          </a:prstGeom>
          <a:noFill/>
        </p:spPr>
        <p:txBody>
          <a:bodyPr wrap="square" lIns="0" rIns="0" tIns="0" bIns="0" anchor="t">
            <a:spAutoFit/>
          </a:bodyPr>
          <a:lstStyle/>
          <a:p>
            <a:pPr algn="r"/>
            <a:r>
              <a:rPr sz="900" b="1" i="0">
                <a:solidFill>
                  <a:srgbClr val="6B3410"/>
                </a:solidFill>
                <a:latin typeface="Helvetica"/>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7315200" cy="365760"/>
          </a:xfrm>
          <a:prstGeom prst="rect">
            <a:avLst/>
          </a:prstGeom>
          <a:noFill/>
        </p:spPr>
        <p:txBody>
          <a:bodyPr wrap="square" lIns="0" rIns="0" tIns="0" bIns="0" anchor="t">
            <a:spAutoFit/>
          </a:bodyPr>
          <a:lstStyle/>
          <a:p>
            <a:pPr algn="l"/>
            <a:r>
              <a:rPr sz="1100" b="1" i="0" spc="400">
                <a:solidFill>
                  <a:srgbClr val="C25E2A"/>
                </a:solidFill>
                <a:latin typeface="Helvetica"/>
              </a:rPr>
              <a:t>DIE REISE BISHER · THE JOURNEY SO FAR</a:t>
            </a:r>
          </a:p>
        </p:txBody>
      </p:sp>
      <p:sp>
        <p:nvSpPr>
          <p:cNvPr id="5" name="TextBox 4"/>
          <p:cNvSpPr txBox="1"/>
          <p:nvPr/>
        </p:nvSpPr>
        <p:spPr>
          <a:xfrm>
            <a:off x="731520" y="914400"/>
            <a:ext cx="10058400" cy="1097280"/>
          </a:xfrm>
          <a:prstGeom prst="rect">
            <a:avLst/>
          </a:prstGeom>
          <a:noFill/>
        </p:spPr>
        <p:txBody>
          <a:bodyPr wrap="square" lIns="0" rIns="0" tIns="0" bIns="0" anchor="t">
            <a:spAutoFit/>
          </a:bodyPr>
          <a:lstStyle/>
          <a:p>
            <a:pPr algn="l"/>
            <a:r>
              <a:rPr sz="4000" b="0" i="0">
                <a:solidFill>
                  <a:srgbClr val="6B3410"/>
                </a:solidFill>
                <a:latin typeface="Georgia"/>
              </a:rPr>
              <a:t>Vier Jahre, viele Begegnungen</a:t>
            </a:r>
          </a:p>
        </p:txBody>
      </p:sp>
      <p:sp>
        <p:nvSpPr>
          <p:cNvPr id="6" name="TextBox 5"/>
          <p:cNvSpPr txBox="1"/>
          <p:nvPr/>
        </p:nvSpPr>
        <p:spPr>
          <a:xfrm>
            <a:off x="731520" y="1737360"/>
            <a:ext cx="10058400" cy="457200"/>
          </a:xfrm>
          <a:prstGeom prst="rect">
            <a:avLst/>
          </a:prstGeom>
          <a:noFill/>
        </p:spPr>
        <p:txBody>
          <a:bodyPr wrap="square" lIns="0" rIns="0" tIns="0" bIns="0" anchor="t">
            <a:spAutoFit/>
          </a:bodyPr>
          <a:lstStyle/>
          <a:p>
            <a:pPr algn="l"/>
            <a:r>
              <a:rPr sz="1400" b="0" i="1">
                <a:solidFill>
                  <a:srgbClr val="C25E2A"/>
                </a:solidFill>
                <a:latin typeface="Georgia"/>
              </a:rPr>
              <a:t>— Four years, many encounters —</a:t>
            </a:r>
          </a:p>
        </p:txBody>
      </p:sp>
      <p:cxnSp>
        <p:nvCxnSpPr>
          <p:cNvPr id="7" name="Connector 6"/>
          <p:cNvCxnSpPr/>
          <p:nvPr/>
        </p:nvCxnSpPr>
        <p:spPr>
          <a:xfrm>
            <a:off x="731520" y="2377440"/>
            <a:ext cx="1554480" cy="0"/>
          </a:xfrm>
          <a:prstGeom prst="line">
            <a:avLst/>
          </a:prstGeom>
          <a:ln w="15240">
            <a:solidFill>
              <a:srgbClr val="C25E2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3727" y="3200400"/>
            <a:ext cx="2560320" cy="1280160"/>
          </a:xfrm>
          <a:prstGeom prst="rect">
            <a:avLst/>
          </a:prstGeom>
          <a:noFill/>
        </p:spPr>
        <p:txBody>
          <a:bodyPr wrap="square" lIns="0" rIns="0" tIns="0" bIns="0" anchor="t">
            <a:spAutoFit/>
          </a:bodyPr>
          <a:lstStyle/>
          <a:p>
            <a:pPr algn="ctr"/>
            <a:r>
              <a:rPr sz="7200" b="0" i="0">
                <a:solidFill>
                  <a:srgbClr val="C25E2A"/>
                </a:solidFill>
                <a:latin typeface="Georgia"/>
              </a:rPr>
              <a:t>127</a:t>
            </a:r>
          </a:p>
        </p:txBody>
      </p:sp>
      <p:sp>
        <p:nvSpPr>
          <p:cNvPr id="9" name="TextBox 8"/>
          <p:cNvSpPr txBox="1"/>
          <p:nvPr/>
        </p:nvSpPr>
        <p:spPr>
          <a:xfrm>
            <a:off x="563727" y="4572000"/>
            <a:ext cx="2560320" cy="365760"/>
          </a:xfrm>
          <a:prstGeom prst="rect">
            <a:avLst/>
          </a:prstGeom>
          <a:noFill/>
        </p:spPr>
        <p:txBody>
          <a:bodyPr wrap="square" lIns="0" rIns="0" tIns="0" bIns="0" anchor="t">
            <a:spAutoFit/>
          </a:bodyPr>
          <a:lstStyle/>
          <a:p>
            <a:pPr algn="ctr"/>
            <a:r>
              <a:rPr sz="1800" b="1" i="0">
                <a:solidFill>
                  <a:srgbClr val="6B3410"/>
                </a:solidFill>
                <a:latin typeface="Georgia"/>
              </a:rPr>
              <a:t>Events</a:t>
            </a:r>
          </a:p>
        </p:txBody>
      </p:sp>
      <p:sp>
        <p:nvSpPr>
          <p:cNvPr id="10" name="TextBox 9"/>
          <p:cNvSpPr txBox="1"/>
          <p:nvPr/>
        </p:nvSpPr>
        <p:spPr>
          <a:xfrm>
            <a:off x="563727" y="5029200"/>
            <a:ext cx="2560320" cy="365760"/>
          </a:xfrm>
          <a:prstGeom prst="rect">
            <a:avLst/>
          </a:prstGeom>
          <a:noFill/>
        </p:spPr>
        <p:txBody>
          <a:bodyPr wrap="square" lIns="0" rIns="0" tIns="0" bIns="0" anchor="t">
            <a:spAutoFit/>
          </a:bodyPr>
          <a:lstStyle/>
          <a:p>
            <a:pPr algn="ctr"/>
            <a:r>
              <a:rPr sz="1100" b="0" i="1">
                <a:solidFill>
                  <a:srgbClr val="3A1F0E"/>
                </a:solidFill>
                <a:latin typeface="Helvetica"/>
              </a:rPr>
              <a:t>in 4 Jahren</a:t>
            </a:r>
          </a:p>
        </p:txBody>
      </p:sp>
      <p:sp>
        <p:nvSpPr>
          <p:cNvPr id="11" name="TextBox 10"/>
          <p:cNvSpPr txBox="1"/>
          <p:nvPr/>
        </p:nvSpPr>
        <p:spPr>
          <a:xfrm>
            <a:off x="3398367" y="3200400"/>
            <a:ext cx="2560320" cy="1280160"/>
          </a:xfrm>
          <a:prstGeom prst="rect">
            <a:avLst/>
          </a:prstGeom>
          <a:noFill/>
        </p:spPr>
        <p:txBody>
          <a:bodyPr wrap="square" lIns="0" rIns="0" tIns="0" bIns="0" anchor="t">
            <a:spAutoFit/>
          </a:bodyPr>
          <a:lstStyle/>
          <a:p>
            <a:pPr algn="ctr"/>
            <a:r>
              <a:rPr sz="7200" b="0" i="0">
                <a:solidFill>
                  <a:srgbClr val="C25E2A"/>
                </a:solidFill>
                <a:latin typeface="Georgia"/>
              </a:rPr>
              <a:t>3.400+</a:t>
            </a:r>
          </a:p>
        </p:txBody>
      </p:sp>
      <p:sp>
        <p:nvSpPr>
          <p:cNvPr id="12" name="TextBox 11"/>
          <p:cNvSpPr txBox="1"/>
          <p:nvPr/>
        </p:nvSpPr>
        <p:spPr>
          <a:xfrm>
            <a:off x="3398367" y="4572000"/>
            <a:ext cx="2560320" cy="365760"/>
          </a:xfrm>
          <a:prstGeom prst="rect">
            <a:avLst/>
          </a:prstGeom>
          <a:noFill/>
        </p:spPr>
        <p:txBody>
          <a:bodyPr wrap="square" lIns="0" rIns="0" tIns="0" bIns="0" anchor="t">
            <a:spAutoFit/>
          </a:bodyPr>
          <a:lstStyle/>
          <a:p>
            <a:pPr algn="ctr"/>
            <a:r>
              <a:rPr sz="1800" b="1" i="0">
                <a:solidFill>
                  <a:srgbClr val="6B3410"/>
                </a:solidFill>
                <a:latin typeface="Georgia"/>
              </a:rPr>
              <a:t>Teilnehmer:innen</a:t>
            </a:r>
          </a:p>
        </p:txBody>
      </p:sp>
      <p:sp>
        <p:nvSpPr>
          <p:cNvPr id="13" name="TextBox 12"/>
          <p:cNvSpPr txBox="1"/>
          <p:nvPr/>
        </p:nvSpPr>
        <p:spPr>
          <a:xfrm>
            <a:off x="3398367" y="5029200"/>
            <a:ext cx="2560320" cy="365760"/>
          </a:xfrm>
          <a:prstGeom prst="rect">
            <a:avLst/>
          </a:prstGeom>
          <a:noFill/>
        </p:spPr>
        <p:txBody>
          <a:bodyPr wrap="square" lIns="0" rIns="0" tIns="0" bIns="0" anchor="t">
            <a:spAutoFit/>
          </a:bodyPr>
          <a:lstStyle/>
          <a:p>
            <a:pPr algn="ctr"/>
            <a:r>
              <a:rPr sz="1100" b="0" i="1">
                <a:solidFill>
                  <a:srgbClr val="3A1F0E"/>
                </a:solidFill>
                <a:latin typeface="Helvetica"/>
              </a:rPr>
              <a:t>auf dem Pfad</a:t>
            </a:r>
          </a:p>
        </p:txBody>
      </p:sp>
      <p:sp>
        <p:nvSpPr>
          <p:cNvPr id="14" name="TextBox 13"/>
          <p:cNvSpPr txBox="1"/>
          <p:nvPr/>
        </p:nvSpPr>
        <p:spPr>
          <a:xfrm>
            <a:off x="6233007" y="3200400"/>
            <a:ext cx="2560320" cy="1280160"/>
          </a:xfrm>
          <a:prstGeom prst="rect">
            <a:avLst/>
          </a:prstGeom>
          <a:noFill/>
        </p:spPr>
        <p:txBody>
          <a:bodyPr wrap="square" lIns="0" rIns="0" tIns="0" bIns="0" anchor="t">
            <a:spAutoFit/>
          </a:bodyPr>
          <a:lstStyle/>
          <a:p>
            <a:pPr algn="ctr"/>
            <a:r>
              <a:rPr sz="7200" b="0" i="0">
                <a:solidFill>
                  <a:srgbClr val="C25E2A"/>
                </a:solidFill>
                <a:latin typeface="Georgia"/>
              </a:rPr>
              <a:t>18</a:t>
            </a:r>
          </a:p>
        </p:txBody>
      </p:sp>
      <p:sp>
        <p:nvSpPr>
          <p:cNvPr id="15" name="TextBox 14"/>
          <p:cNvSpPr txBox="1"/>
          <p:nvPr/>
        </p:nvSpPr>
        <p:spPr>
          <a:xfrm>
            <a:off x="6233007" y="4572000"/>
            <a:ext cx="2560320" cy="365760"/>
          </a:xfrm>
          <a:prstGeom prst="rect">
            <a:avLst/>
          </a:prstGeom>
          <a:noFill/>
        </p:spPr>
        <p:txBody>
          <a:bodyPr wrap="square" lIns="0" rIns="0" tIns="0" bIns="0" anchor="t">
            <a:spAutoFit/>
          </a:bodyPr>
          <a:lstStyle/>
          <a:p>
            <a:pPr algn="ctr"/>
            <a:r>
              <a:rPr sz="1800" b="1" i="0">
                <a:solidFill>
                  <a:srgbClr val="6B3410"/>
                </a:solidFill>
                <a:latin typeface="Georgia"/>
              </a:rPr>
              <a:t>Facilitator</a:t>
            </a:r>
          </a:p>
        </p:txBody>
      </p:sp>
      <p:sp>
        <p:nvSpPr>
          <p:cNvPr id="16" name="TextBox 15"/>
          <p:cNvSpPr txBox="1"/>
          <p:nvPr/>
        </p:nvSpPr>
        <p:spPr>
          <a:xfrm>
            <a:off x="6233007" y="5029200"/>
            <a:ext cx="2560320" cy="365760"/>
          </a:xfrm>
          <a:prstGeom prst="rect">
            <a:avLst/>
          </a:prstGeom>
          <a:noFill/>
        </p:spPr>
        <p:txBody>
          <a:bodyPr wrap="square" lIns="0" rIns="0" tIns="0" bIns="0" anchor="t">
            <a:spAutoFit/>
          </a:bodyPr>
          <a:lstStyle/>
          <a:p>
            <a:pPr algn="ctr"/>
            <a:r>
              <a:rPr sz="1100" b="0" i="1">
                <a:solidFill>
                  <a:srgbClr val="3A1F0E"/>
                </a:solidFill>
                <a:latin typeface="Helvetica"/>
              </a:rPr>
              <a:t>im Kollektiv</a:t>
            </a:r>
          </a:p>
        </p:txBody>
      </p:sp>
      <p:sp>
        <p:nvSpPr>
          <p:cNvPr id="17" name="TextBox 16"/>
          <p:cNvSpPr txBox="1"/>
          <p:nvPr/>
        </p:nvSpPr>
        <p:spPr>
          <a:xfrm>
            <a:off x="9067647" y="3200400"/>
            <a:ext cx="2560320" cy="1280160"/>
          </a:xfrm>
          <a:prstGeom prst="rect">
            <a:avLst/>
          </a:prstGeom>
          <a:noFill/>
        </p:spPr>
        <p:txBody>
          <a:bodyPr wrap="square" lIns="0" rIns="0" tIns="0" bIns="0" anchor="t">
            <a:spAutoFit/>
          </a:bodyPr>
          <a:lstStyle/>
          <a:p>
            <a:pPr algn="ctr"/>
            <a:r>
              <a:rPr sz="7200" b="0" i="0">
                <a:solidFill>
                  <a:srgbClr val="C25E2A"/>
                </a:solidFill>
                <a:latin typeface="Georgia"/>
              </a:rPr>
              <a:t>24</a:t>
            </a:r>
          </a:p>
        </p:txBody>
      </p:sp>
      <p:sp>
        <p:nvSpPr>
          <p:cNvPr id="18" name="TextBox 17"/>
          <p:cNvSpPr txBox="1"/>
          <p:nvPr/>
        </p:nvSpPr>
        <p:spPr>
          <a:xfrm>
            <a:off x="9067647" y="4572000"/>
            <a:ext cx="2560320" cy="365760"/>
          </a:xfrm>
          <a:prstGeom prst="rect">
            <a:avLst/>
          </a:prstGeom>
          <a:noFill/>
        </p:spPr>
        <p:txBody>
          <a:bodyPr wrap="square" lIns="0" rIns="0" tIns="0" bIns="0" anchor="t">
            <a:spAutoFit/>
          </a:bodyPr>
          <a:lstStyle/>
          <a:p>
            <a:pPr algn="ctr"/>
            <a:r>
              <a:rPr sz="1800" b="1" i="0">
                <a:solidFill>
                  <a:srgbClr val="6B3410"/>
                </a:solidFill>
                <a:latin typeface="Georgia"/>
              </a:rPr>
              <a:t>Orte</a:t>
            </a:r>
          </a:p>
        </p:txBody>
      </p:sp>
      <p:sp>
        <p:nvSpPr>
          <p:cNvPr id="19" name="TextBox 18"/>
          <p:cNvSpPr txBox="1"/>
          <p:nvPr/>
        </p:nvSpPr>
        <p:spPr>
          <a:xfrm>
            <a:off x="9067647" y="5029200"/>
            <a:ext cx="2560320" cy="365760"/>
          </a:xfrm>
          <a:prstGeom prst="rect">
            <a:avLst/>
          </a:prstGeom>
          <a:noFill/>
        </p:spPr>
        <p:txBody>
          <a:bodyPr wrap="square" lIns="0" rIns="0" tIns="0" bIns="0" anchor="t">
            <a:spAutoFit/>
          </a:bodyPr>
          <a:lstStyle/>
          <a:p>
            <a:pPr algn="ctr"/>
            <a:r>
              <a:rPr sz="1100" b="0" i="1">
                <a:solidFill>
                  <a:srgbClr val="3A1F0E"/>
                </a:solidFill>
                <a:latin typeface="Helvetica"/>
              </a:rPr>
              <a:t>in Europa</a:t>
            </a:r>
          </a:p>
        </p:txBody>
      </p:sp>
      <p:sp>
        <p:nvSpPr>
          <p:cNvPr id="20" name="TextBox 19"/>
          <p:cNvSpPr txBox="1"/>
          <p:nvPr/>
        </p:nvSpPr>
        <p:spPr>
          <a:xfrm>
            <a:off x="731520" y="6492240"/>
            <a:ext cx="9144000" cy="274320"/>
          </a:xfrm>
          <a:prstGeom prst="rect">
            <a:avLst/>
          </a:prstGeom>
          <a:noFill/>
        </p:spPr>
        <p:txBody>
          <a:bodyPr wrap="square" lIns="0" rIns="0" tIns="0" bIns="0" anchor="t">
            <a:spAutoFit/>
          </a:bodyPr>
          <a:lstStyle/>
          <a:p>
            <a:pPr algn="l"/>
            <a:r>
              <a:rPr sz="900" b="0" i="1">
                <a:solidFill>
                  <a:srgbClr val="3A1F0E"/>
                </a:solidFill>
                <a:latin typeface="Helvetica"/>
              </a:rPr>
              <a:t>Soul² · Markenvorlage</a:t>
            </a:r>
          </a:p>
        </p:txBody>
      </p:sp>
      <p:sp>
        <p:nvSpPr>
          <p:cNvPr id="21" name="TextBox 20"/>
          <p:cNvSpPr txBox="1"/>
          <p:nvPr/>
        </p:nvSpPr>
        <p:spPr>
          <a:xfrm>
            <a:off x="10515600" y="6492240"/>
            <a:ext cx="1371600" cy="274320"/>
          </a:xfrm>
          <a:prstGeom prst="rect">
            <a:avLst/>
          </a:prstGeom>
          <a:noFill/>
        </p:spPr>
        <p:txBody>
          <a:bodyPr wrap="square" lIns="0" rIns="0" tIns="0" bIns="0" anchor="t">
            <a:spAutoFit/>
          </a:bodyPr>
          <a:lstStyle/>
          <a:p>
            <a:pPr algn="r"/>
            <a:r>
              <a:rPr sz="900" b="1" i="0">
                <a:solidFill>
                  <a:srgbClr val="6B3410"/>
                </a:solidFill>
                <a:latin typeface="Helvetica"/>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7315200" cy="365760"/>
          </a:xfrm>
          <a:prstGeom prst="rect">
            <a:avLst/>
          </a:prstGeom>
          <a:noFill/>
        </p:spPr>
        <p:txBody>
          <a:bodyPr wrap="square" lIns="0" rIns="0" tIns="0" bIns="0" anchor="t">
            <a:spAutoFit/>
          </a:bodyPr>
          <a:lstStyle/>
          <a:p>
            <a:pPr algn="l"/>
            <a:r>
              <a:rPr sz="1100" b="1" i="0" spc="400">
                <a:solidFill>
                  <a:srgbClr val="C25E2A"/>
                </a:solidFill>
                <a:latin typeface="Helvetica"/>
              </a:rPr>
              <a:t>DAS KOLLEKTIV · THE CIRCLE</a:t>
            </a:r>
          </a:p>
        </p:txBody>
      </p:sp>
      <p:sp>
        <p:nvSpPr>
          <p:cNvPr id="5" name="TextBox 4"/>
          <p:cNvSpPr txBox="1"/>
          <p:nvPr/>
        </p:nvSpPr>
        <p:spPr>
          <a:xfrm>
            <a:off x="731520" y="914400"/>
            <a:ext cx="10058400" cy="1097280"/>
          </a:xfrm>
          <a:prstGeom prst="rect">
            <a:avLst/>
          </a:prstGeom>
          <a:noFill/>
        </p:spPr>
        <p:txBody>
          <a:bodyPr wrap="square" lIns="0" rIns="0" tIns="0" bIns="0" anchor="t">
            <a:spAutoFit/>
          </a:bodyPr>
          <a:lstStyle/>
          <a:p>
            <a:pPr algn="l"/>
            <a:r>
              <a:rPr sz="4000" b="0" i="0">
                <a:solidFill>
                  <a:srgbClr val="6B3410"/>
                </a:solidFill>
                <a:latin typeface="Georgia"/>
              </a:rPr>
              <a:t>Menschen, die den Raum halten</a:t>
            </a:r>
          </a:p>
        </p:txBody>
      </p:sp>
      <p:sp>
        <p:nvSpPr>
          <p:cNvPr id="6" name="TextBox 5"/>
          <p:cNvSpPr txBox="1"/>
          <p:nvPr/>
        </p:nvSpPr>
        <p:spPr>
          <a:xfrm>
            <a:off x="731520" y="1737360"/>
            <a:ext cx="10058400" cy="457200"/>
          </a:xfrm>
          <a:prstGeom prst="rect">
            <a:avLst/>
          </a:prstGeom>
          <a:noFill/>
        </p:spPr>
        <p:txBody>
          <a:bodyPr wrap="square" lIns="0" rIns="0" tIns="0" bIns="0" anchor="t">
            <a:spAutoFit/>
          </a:bodyPr>
          <a:lstStyle/>
          <a:p>
            <a:pPr algn="l"/>
            <a:r>
              <a:rPr sz="1400" b="0" i="1">
                <a:solidFill>
                  <a:srgbClr val="C25E2A"/>
                </a:solidFill>
                <a:latin typeface="Georgia"/>
              </a:rPr>
              <a:t>— The ones who hold the space —</a:t>
            </a:r>
          </a:p>
        </p:txBody>
      </p:sp>
      <p:cxnSp>
        <p:nvCxnSpPr>
          <p:cNvPr id="7" name="Connector 6"/>
          <p:cNvCxnSpPr/>
          <p:nvPr/>
        </p:nvCxnSpPr>
        <p:spPr>
          <a:xfrm>
            <a:off x="731520" y="2377440"/>
            <a:ext cx="1554480" cy="0"/>
          </a:xfrm>
          <a:prstGeom prst="line">
            <a:avLst/>
          </a:prstGeom>
          <a:ln w="15240">
            <a:solidFill>
              <a:srgbClr val="C25E2A"/>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58087" y="2834640"/>
            <a:ext cx="1371600" cy="1371600"/>
          </a:xfrm>
          <a:prstGeom prst="ellipse">
            <a:avLst/>
          </a:prstGeom>
          <a:solidFill>
            <a:srgbClr val="D4A047"/>
          </a:solidFill>
          <a:ln w="19050">
            <a:solidFill>
              <a:srgbClr val="6B34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8087" y="3154680"/>
            <a:ext cx="1371600" cy="731520"/>
          </a:xfrm>
          <a:prstGeom prst="rect">
            <a:avLst/>
          </a:prstGeom>
          <a:noFill/>
        </p:spPr>
        <p:txBody>
          <a:bodyPr wrap="square" lIns="0" rIns="0" tIns="0" bIns="0" anchor="t">
            <a:spAutoFit/>
          </a:bodyPr>
          <a:lstStyle/>
          <a:p>
            <a:pPr algn="ctr"/>
            <a:r>
              <a:rPr sz="5400" b="0" i="1">
                <a:solidFill>
                  <a:srgbClr val="6B3410"/>
                </a:solidFill>
                <a:latin typeface="Brush Script MT"/>
              </a:rPr>
              <a:t>A</a:t>
            </a:r>
          </a:p>
        </p:txBody>
      </p:sp>
      <p:sp>
        <p:nvSpPr>
          <p:cNvPr id="10" name="TextBox 9"/>
          <p:cNvSpPr txBox="1"/>
          <p:nvPr/>
        </p:nvSpPr>
        <p:spPr>
          <a:xfrm>
            <a:off x="563727" y="4389120"/>
            <a:ext cx="2560320" cy="457200"/>
          </a:xfrm>
          <a:prstGeom prst="rect">
            <a:avLst/>
          </a:prstGeom>
          <a:noFill/>
        </p:spPr>
        <p:txBody>
          <a:bodyPr wrap="square" lIns="0" rIns="0" tIns="0" bIns="0" anchor="t">
            <a:spAutoFit/>
          </a:bodyPr>
          <a:lstStyle/>
          <a:p>
            <a:pPr algn="ctr"/>
            <a:r>
              <a:rPr sz="2200" b="0" i="0">
                <a:solidFill>
                  <a:srgbClr val="6B3410"/>
                </a:solidFill>
                <a:latin typeface="Georgia"/>
              </a:rPr>
              <a:t>Aiyana</a:t>
            </a:r>
          </a:p>
        </p:txBody>
      </p:sp>
      <p:sp>
        <p:nvSpPr>
          <p:cNvPr id="11" name="TextBox 10"/>
          <p:cNvSpPr txBox="1"/>
          <p:nvPr/>
        </p:nvSpPr>
        <p:spPr>
          <a:xfrm>
            <a:off x="563727" y="4937760"/>
            <a:ext cx="2560320" cy="365760"/>
          </a:xfrm>
          <a:prstGeom prst="rect">
            <a:avLst/>
          </a:prstGeom>
          <a:noFill/>
        </p:spPr>
        <p:txBody>
          <a:bodyPr wrap="square" lIns="0" rIns="0" tIns="0" bIns="0" anchor="t">
            <a:spAutoFit/>
          </a:bodyPr>
          <a:lstStyle/>
          <a:p>
            <a:pPr algn="ctr"/>
            <a:r>
              <a:rPr sz="1200" b="1" i="0">
                <a:solidFill>
                  <a:srgbClr val="3A1F0E"/>
                </a:solidFill>
                <a:latin typeface="Helvetica"/>
              </a:rPr>
              <a:t>Zeremonialleiterin</a:t>
            </a:r>
          </a:p>
        </p:txBody>
      </p:sp>
      <p:sp>
        <p:nvSpPr>
          <p:cNvPr id="12" name="TextBox 11"/>
          <p:cNvSpPr txBox="1"/>
          <p:nvPr/>
        </p:nvSpPr>
        <p:spPr>
          <a:xfrm>
            <a:off x="563727" y="5303520"/>
            <a:ext cx="2560320" cy="365760"/>
          </a:xfrm>
          <a:prstGeom prst="rect">
            <a:avLst/>
          </a:prstGeom>
          <a:noFill/>
        </p:spPr>
        <p:txBody>
          <a:bodyPr wrap="square" lIns="0" rIns="0" tIns="0" bIns="0" anchor="t">
            <a:spAutoFit/>
          </a:bodyPr>
          <a:lstStyle/>
          <a:p>
            <a:pPr algn="ctr"/>
            <a:r>
              <a:rPr sz="1100" b="0" i="1">
                <a:solidFill>
                  <a:srgbClr val="C25E2A"/>
                </a:solidFill>
                <a:latin typeface="Georgia"/>
              </a:rPr>
              <a:t>Ceremony</a:t>
            </a:r>
          </a:p>
        </p:txBody>
      </p:sp>
      <p:sp>
        <p:nvSpPr>
          <p:cNvPr id="13" name="Oval 12"/>
          <p:cNvSpPr/>
          <p:nvPr/>
        </p:nvSpPr>
        <p:spPr>
          <a:xfrm>
            <a:off x="3992727" y="2834640"/>
            <a:ext cx="1371600" cy="1371600"/>
          </a:xfrm>
          <a:prstGeom prst="ellipse">
            <a:avLst/>
          </a:prstGeom>
          <a:solidFill>
            <a:srgbClr val="D4A047"/>
          </a:solidFill>
          <a:ln w="19050">
            <a:solidFill>
              <a:srgbClr val="6B34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92727" y="3154680"/>
            <a:ext cx="1371600" cy="731520"/>
          </a:xfrm>
          <a:prstGeom prst="rect">
            <a:avLst/>
          </a:prstGeom>
          <a:noFill/>
        </p:spPr>
        <p:txBody>
          <a:bodyPr wrap="square" lIns="0" rIns="0" tIns="0" bIns="0" anchor="t">
            <a:spAutoFit/>
          </a:bodyPr>
          <a:lstStyle/>
          <a:p>
            <a:pPr algn="ctr"/>
            <a:r>
              <a:rPr sz="5400" b="0" i="1">
                <a:solidFill>
                  <a:srgbClr val="6B3410"/>
                </a:solidFill>
                <a:latin typeface="Brush Script MT"/>
              </a:rPr>
              <a:t>T</a:t>
            </a:r>
          </a:p>
        </p:txBody>
      </p:sp>
      <p:sp>
        <p:nvSpPr>
          <p:cNvPr id="15" name="TextBox 14"/>
          <p:cNvSpPr txBox="1"/>
          <p:nvPr/>
        </p:nvSpPr>
        <p:spPr>
          <a:xfrm>
            <a:off x="3398367" y="4389120"/>
            <a:ext cx="2560320" cy="457200"/>
          </a:xfrm>
          <a:prstGeom prst="rect">
            <a:avLst/>
          </a:prstGeom>
          <a:noFill/>
        </p:spPr>
        <p:txBody>
          <a:bodyPr wrap="square" lIns="0" rIns="0" tIns="0" bIns="0" anchor="t">
            <a:spAutoFit/>
          </a:bodyPr>
          <a:lstStyle/>
          <a:p>
            <a:pPr algn="ctr"/>
            <a:r>
              <a:rPr sz="2200" b="0" i="0">
                <a:solidFill>
                  <a:srgbClr val="6B3410"/>
                </a:solidFill>
                <a:latin typeface="Georgia"/>
              </a:rPr>
              <a:t>Tobias</a:t>
            </a:r>
          </a:p>
        </p:txBody>
      </p:sp>
      <p:sp>
        <p:nvSpPr>
          <p:cNvPr id="16" name="TextBox 15"/>
          <p:cNvSpPr txBox="1"/>
          <p:nvPr/>
        </p:nvSpPr>
        <p:spPr>
          <a:xfrm>
            <a:off x="3398367" y="4937760"/>
            <a:ext cx="2560320" cy="365760"/>
          </a:xfrm>
          <a:prstGeom prst="rect">
            <a:avLst/>
          </a:prstGeom>
          <a:noFill/>
        </p:spPr>
        <p:txBody>
          <a:bodyPr wrap="square" lIns="0" rIns="0" tIns="0" bIns="0" anchor="t">
            <a:spAutoFit/>
          </a:bodyPr>
          <a:lstStyle/>
          <a:p>
            <a:pPr algn="ctr"/>
            <a:r>
              <a:rPr sz="1200" b="1" i="0">
                <a:solidFill>
                  <a:srgbClr val="3A1F0E"/>
                </a:solidFill>
                <a:latin typeface="Helvetica"/>
              </a:rPr>
              <a:t>Tanzfacilitator</a:t>
            </a:r>
          </a:p>
        </p:txBody>
      </p:sp>
      <p:sp>
        <p:nvSpPr>
          <p:cNvPr id="17" name="TextBox 16"/>
          <p:cNvSpPr txBox="1"/>
          <p:nvPr/>
        </p:nvSpPr>
        <p:spPr>
          <a:xfrm>
            <a:off x="3398367" y="5303520"/>
            <a:ext cx="2560320" cy="365760"/>
          </a:xfrm>
          <a:prstGeom prst="rect">
            <a:avLst/>
          </a:prstGeom>
          <a:noFill/>
        </p:spPr>
        <p:txBody>
          <a:bodyPr wrap="square" lIns="0" rIns="0" tIns="0" bIns="0" anchor="t">
            <a:spAutoFit/>
          </a:bodyPr>
          <a:lstStyle/>
          <a:p>
            <a:pPr algn="ctr"/>
            <a:r>
              <a:rPr sz="1100" b="0" i="1">
                <a:solidFill>
                  <a:srgbClr val="C25E2A"/>
                </a:solidFill>
                <a:latin typeface="Georgia"/>
              </a:rPr>
              <a:t>Movement</a:t>
            </a:r>
          </a:p>
        </p:txBody>
      </p:sp>
      <p:sp>
        <p:nvSpPr>
          <p:cNvPr id="18" name="Oval 17"/>
          <p:cNvSpPr/>
          <p:nvPr/>
        </p:nvSpPr>
        <p:spPr>
          <a:xfrm>
            <a:off x="6827367" y="2834640"/>
            <a:ext cx="1371600" cy="1371600"/>
          </a:xfrm>
          <a:prstGeom prst="ellipse">
            <a:avLst/>
          </a:prstGeom>
          <a:solidFill>
            <a:srgbClr val="D4A047"/>
          </a:solidFill>
          <a:ln w="19050">
            <a:solidFill>
              <a:srgbClr val="6B34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7367" y="3154680"/>
            <a:ext cx="1371600" cy="731520"/>
          </a:xfrm>
          <a:prstGeom prst="rect">
            <a:avLst/>
          </a:prstGeom>
          <a:noFill/>
        </p:spPr>
        <p:txBody>
          <a:bodyPr wrap="square" lIns="0" rIns="0" tIns="0" bIns="0" anchor="t">
            <a:spAutoFit/>
          </a:bodyPr>
          <a:lstStyle/>
          <a:p>
            <a:pPr algn="ctr"/>
            <a:r>
              <a:rPr sz="5400" b="0" i="1">
                <a:solidFill>
                  <a:srgbClr val="6B3410"/>
                </a:solidFill>
                <a:latin typeface="Brush Script MT"/>
              </a:rPr>
              <a:t>L</a:t>
            </a:r>
          </a:p>
        </p:txBody>
      </p:sp>
      <p:sp>
        <p:nvSpPr>
          <p:cNvPr id="20" name="TextBox 19"/>
          <p:cNvSpPr txBox="1"/>
          <p:nvPr/>
        </p:nvSpPr>
        <p:spPr>
          <a:xfrm>
            <a:off x="6233007" y="4389120"/>
            <a:ext cx="2560320" cy="457200"/>
          </a:xfrm>
          <a:prstGeom prst="rect">
            <a:avLst/>
          </a:prstGeom>
          <a:noFill/>
        </p:spPr>
        <p:txBody>
          <a:bodyPr wrap="square" lIns="0" rIns="0" tIns="0" bIns="0" anchor="t">
            <a:spAutoFit/>
          </a:bodyPr>
          <a:lstStyle/>
          <a:p>
            <a:pPr algn="ctr"/>
            <a:r>
              <a:rPr sz="2200" b="0" i="0">
                <a:solidFill>
                  <a:srgbClr val="6B3410"/>
                </a:solidFill>
                <a:latin typeface="Georgia"/>
              </a:rPr>
              <a:t>Lila</a:t>
            </a:r>
          </a:p>
        </p:txBody>
      </p:sp>
      <p:sp>
        <p:nvSpPr>
          <p:cNvPr id="21" name="TextBox 20"/>
          <p:cNvSpPr txBox="1"/>
          <p:nvPr/>
        </p:nvSpPr>
        <p:spPr>
          <a:xfrm>
            <a:off x="6233007" y="4937760"/>
            <a:ext cx="2560320" cy="365760"/>
          </a:xfrm>
          <a:prstGeom prst="rect">
            <a:avLst/>
          </a:prstGeom>
          <a:noFill/>
        </p:spPr>
        <p:txBody>
          <a:bodyPr wrap="square" lIns="0" rIns="0" tIns="0" bIns="0" anchor="t">
            <a:spAutoFit/>
          </a:bodyPr>
          <a:lstStyle/>
          <a:p>
            <a:pPr algn="ctr"/>
            <a:r>
              <a:rPr sz="1200" b="1" i="0">
                <a:solidFill>
                  <a:srgbClr val="3A1F0E"/>
                </a:solidFill>
                <a:latin typeface="Helvetica"/>
              </a:rPr>
              <a:t>Naturpädagogin</a:t>
            </a:r>
          </a:p>
        </p:txBody>
      </p:sp>
      <p:sp>
        <p:nvSpPr>
          <p:cNvPr id="22" name="TextBox 21"/>
          <p:cNvSpPr txBox="1"/>
          <p:nvPr/>
        </p:nvSpPr>
        <p:spPr>
          <a:xfrm>
            <a:off x="6233007" y="5303520"/>
            <a:ext cx="2560320" cy="365760"/>
          </a:xfrm>
          <a:prstGeom prst="rect">
            <a:avLst/>
          </a:prstGeom>
          <a:noFill/>
        </p:spPr>
        <p:txBody>
          <a:bodyPr wrap="square" lIns="0" rIns="0" tIns="0" bIns="0" anchor="t">
            <a:spAutoFit/>
          </a:bodyPr>
          <a:lstStyle/>
          <a:p>
            <a:pPr algn="ctr"/>
            <a:r>
              <a:rPr sz="1100" b="0" i="1">
                <a:solidFill>
                  <a:srgbClr val="C25E2A"/>
                </a:solidFill>
                <a:latin typeface="Georgia"/>
              </a:rPr>
              <a:t>Nature</a:t>
            </a:r>
          </a:p>
        </p:txBody>
      </p:sp>
      <p:sp>
        <p:nvSpPr>
          <p:cNvPr id="23" name="Oval 22"/>
          <p:cNvSpPr/>
          <p:nvPr/>
        </p:nvSpPr>
        <p:spPr>
          <a:xfrm>
            <a:off x="9662007" y="2834640"/>
            <a:ext cx="1371600" cy="1371600"/>
          </a:xfrm>
          <a:prstGeom prst="ellipse">
            <a:avLst/>
          </a:prstGeom>
          <a:solidFill>
            <a:srgbClr val="D4A047"/>
          </a:solidFill>
          <a:ln w="19050">
            <a:solidFill>
              <a:srgbClr val="6B34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62007" y="3154680"/>
            <a:ext cx="1371600" cy="731520"/>
          </a:xfrm>
          <a:prstGeom prst="rect">
            <a:avLst/>
          </a:prstGeom>
          <a:noFill/>
        </p:spPr>
        <p:txBody>
          <a:bodyPr wrap="square" lIns="0" rIns="0" tIns="0" bIns="0" anchor="t">
            <a:spAutoFit/>
          </a:bodyPr>
          <a:lstStyle/>
          <a:p>
            <a:pPr algn="ctr"/>
            <a:r>
              <a:rPr sz="5400" b="0" i="1">
                <a:solidFill>
                  <a:srgbClr val="6B3410"/>
                </a:solidFill>
                <a:latin typeface="Brush Script MT"/>
              </a:rPr>
              <a:t>M</a:t>
            </a:r>
          </a:p>
        </p:txBody>
      </p:sp>
      <p:sp>
        <p:nvSpPr>
          <p:cNvPr id="25" name="TextBox 24"/>
          <p:cNvSpPr txBox="1"/>
          <p:nvPr/>
        </p:nvSpPr>
        <p:spPr>
          <a:xfrm>
            <a:off x="9067647" y="4389120"/>
            <a:ext cx="2560320" cy="457200"/>
          </a:xfrm>
          <a:prstGeom prst="rect">
            <a:avLst/>
          </a:prstGeom>
          <a:noFill/>
        </p:spPr>
        <p:txBody>
          <a:bodyPr wrap="square" lIns="0" rIns="0" tIns="0" bIns="0" anchor="t">
            <a:spAutoFit/>
          </a:bodyPr>
          <a:lstStyle/>
          <a:p>
            <a:pPr algn="ctr"/>
            <a:r>
              <a:rPr sz="2200" b="0" i="0">
                <a:solidFill>
                  <a:srgbClr val="6B3410"/>
                </a:solidFill>
                <a:latin typeface="Georgia"/>
              </a:rPr>
              <a:t>Mira</a:t>
            </a:r>
          </a:p>
        </p:txBody>
      </p:sp>
      <p:sp>
        <p:nvSpPr>
          <p:cNvPr id="26" name="TextBox 25"/>
          <p:cNvSpPr txBox="1"/>
          <p:nvPr/>
        </p:nvSpPr>
        <p:spPr>
          <a:xfrm>
            <a:off x="9067647" y="4937760"/>
            <a:ext cx="2560320" cy="365760"/>
          </a:xfrm>
          <a:prstGeom prst="rect">
            <a:avLst/>
          </a:prstGeom>
          <a:noFill/>
        </p:spPr>
        <p:txBody>
          <a:bodyPr wrap="square" lIns="0" rIns="0" tIns="0" bIns="0" anchor="t">
            <a:spAutoFit/>
          </a:bodyPr>
          <a:lstStyle/>
          <a:p>
            <a:pPr algn="ctr"/>
            <a:r>
              <a:rPr sz="1200" b="1" i="0">
                <a:solidFill>
                  <a:srgbClr val="3A1F0E"/>
                </a:solidFill>
                <a:latin typeface="Helvetica"/>
              </a:rPr>
              <a:t>Klangkünstlerin</a:t>
            </a:r>
          </a:p>
        </p:txBody>
      </p:sp>
      <p:sp>
        <p:nvSpPr>
          <p:cNvPr id="27" name="TextBox 26"/>
          <p:cNvSpPr txBox="1"/>
          <p:nvPr/>
        </p:nvSpPr>
        <p:spPr>
          <a:xfrm>
            <a:off x="9067647" y="5303520"/>
            <a:ext cx="2560320" cy="365760"/>
          </a:xfrm>
          <a:prstGeom prst="rect">
            <a:avLst/>
          </a:prstGeom>
          <a:noFill/>
        </p:spPr>
        <p:txBody>
          <a:bodyPr wrap="square" lIns="0" rIns="0" tIns="0" bIns="0" anchor="t">
            <a:spAutoFit/>
          </a:bodyPr>
          <a:lstStyle/>
          <a:p>
            <a:pPr algn="ctr"/>
            <a:r>
              <a:rPr sz="1100" b="0" i="1">
                <a:solidFill>
                  <a:srgbClr val="C25E2A"/>
                </a:solidFill>
                <a:latin typeface="Georgia"/>
              </a:rPr>
              <a:t>Sound</a:t>
            </a:r>
          </a:p>
        </p:txBody>
      </p:sp>
      <p:sp>
        <p:nvSpPr>
          <p:cNvPr id="28" name="TextBox 27"/>
          <p:cNvSpPr txBox="1"/>
          <p:nvPr/>
        </p:nvSpPr>
        <p:spPr>
          <a:xfrm>
            <a:off x="731520" y="6492240"/>
            <a:ext cx="9144000" cy="274320"/>
          </a:xfrm>
          <a:prstGeom prst="rect">
            <a:avLst/>
          </a:prstGeom>
          <a:noFill/>
        </p:spPr>
        <p:txBody>
          <a:bodyPr wrap="square" lIns="0" rIns="0" tIns="0" bIns="0" anchor="t">
            <a:spAutoFit/>
          </a:bodyPr>
          <a:lstStyle/>
          <a:p>
            <a:pPr algn="l"/>
            <a:r>
              <a:rPr sz="900" b="0" i="1">
                <a:solidFill>
                  <a:srgbClr val="3A1F0E"/>
                </a:solidFill>
                <a:latin typeface="Helvetica"/>
              </a:rPr>
              <a:t>Soul² · Markenvorlage</a:t>
            </a:r>
          </a:p>
        </p:txBody>
      </p:sp>
      <p:sp>
        <p:nvSpPr>
          <p:cNvPr id="29" name="TextBox 28"/>
          <p:cNvSpPr txBox="1"/>
          <p:nvPr/>
        </p:nvSpPr>
        <p:spPr>
          <a:xfrm>
            <a:off x="10515600" y="6492240"/>
            <a:ext cx="1371600" cy="274320"/>
          </a:xfrm>
          <a:prstGeom prst="rect">
            <a:avLst/>
          </a:prstGeom>
          <a:noFill/>
        </p:spPr>
        <p:txBody>
          <a:bodyPr wrap="square" lIns="0" rIns="0" tIns="0" bIns="0" anchor="t">
            <a:spAutoFit/>
          </a:bodyPr>
          <a:lstStyle/>
          <a:p>
            <a:pPr algn="r"/>
            <a:r>
              <a:rPr sz="900" b="1" i="0">
                <a:solidFill>
                  <a:srgbClr val="6B3410"/>
                </a:solidFill>
                <a:latin typeface="Helvetica"/>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3_pattern_tile.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6B3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_mandala_motif.png"/>
          <p:cNvPicPr>
            <a:picLocks noChangeAspect="1"/>
          </p:cNvPicPr>
          <p:nvPr/>
        </p:nvPicPr>
        <p:blipFill>
          <a:blip r:embed="rId3"/>
          <a:stretch>
            <a:fillRect/>
          </a:stretch>
        </p:blipFill>
        <p:spPr>
          <a:xfrm>
            <a:off x="5212080" y="640080"/>
            <a:ext cx="1828800" cy="1828800"/>
          </a:xfrm>
          <a:prstGeom prst="rect">
            <a:avLst/>
          </a:prstGeom>
        </p:spPr>
      </p:pic>
      <p:sp>
        <p:nvSpPr>
          <p:cNvPr id="6" name="TextBox 5"/>
          <p:cNvSpPr txBox="1"/>
          <p:nvPr/>
        </p:nvSpPr>
        <p:spPr>
          <a:xfrm>
            <a:off x="914400" y="2743200"/>
            <a:ext cx="10332720" cy="1371600"/>
          </a:xfrm>
          <a:prstGeom prst="rect">
            <a:avLst/>
          </a:prstGeom>
          <a:noFill/>
        </p:spPr>
        <p:txBody>
          <a:bodyPr wrap="square" lIns="0" rIns="0" tIns="0" bIns="0" anchor="t">
            <a:spAutoFit/>
          </a:bodyPr>
          <a:lstStyle/>
          <a:p>
            <a:pPr algn="ctr"/>
            <a:r>
              <a:rPr sz="16000" b="0" i="1">
                <a:solidFill>
                  <a:srgbClr val="F7EFE0"/>
                </a:solidFill>
                <a:latin typeface="Brush Script MT"/>
              </a:rPr>
              <a:t>Danke.</a:t>
            </a:r>
          </a:p>
        </p:txBody>
      </p:sp>
      <p:sp>
        <p:nvSpPr>
          <p:cNvPr id="7" name="TextBox 6"/>
          <p:cNvSpPr txBox="1"/>
          <p:nvPr/>
        </p:nvSpPr>
        <p:spPr>
          <a:xfrm>
            <a:off x="914400" y="4572000"/>
            <a:ext cx="10332720" cy="548640"/>
          </a:xfrm>
          <a:prstGeom prst="rect">
            <a:avLst/>
          </a:prstGeom>
          <a:noFill/>
        </p:spPr>
        <p:txBody>
          <a:bodyPr wrap="square" lIns="0" rIns="0" tIns="0" bIns="0" anchor="t">
            <a:spAutoFit/>
          </a:bodyPr>
          <a:lstStyle/>
          <a:p>
            <a:pPr algn="ctr"/>
            <a:r>
              <a:rPr sz="2200" b="0" i="1">
                <a:solidFill>
                  <a:srgbClr val="D4A047"/>
                </a:solidFill>
                <a:latin typeface="Georgia"/>
              </a:rPr>
              <a:t>— Thank you —</a:t>
            </a:r>
          </a:p>
        </p:txBody>
      </p:sp>
      <p:sp>
        <p:nvSpPr>
          <p:cNvPr id="8" name="TextBox 7"/>
          <p:cNvSpPr txBox="1"/>
          <p:nvPr/>
        </p:nvSpPr>
        <p:spPr>
          <a:xfrm>
            <a:off x="914400" y="5486400"/>
            <a:ext cx="10332720" cy="457200"/>
          </a:xfrm>
          <a:prstGeom prst="rect">
            <a:avLst/>
          </a:prstGeom>
          <a:noFill/>
        </p:spPr>
        <p:txBody>
          <a:bodyPr wrap="square" lIns="0" rIns="0" tIns="0" bIns="0" anchor="t">
            <a:spAutoFit/>
          </a:bodyPr>
          <a:lstStyle/>
          <a:p>
            <a:pPr algn="ctr"/>
            <a:r>
              <a:rPr sz="1400" b="0" i="1">
                <a:solidFill>
                  <a:srgbClr val="F2D9A8"/>
                </a:solidFill>
                <a:latin typeface="Georgia"/>
              </a:rPr>
              <a:t>hallo@soul-squared.com   ·   soul-squared.com</a:t>
            </a:r>
          </a:p>
        </p:txBody>
      </p:sp>
      <p:sp>
        <p:nvSpPr>
          <p:cNvPr id="9" name="TextBox 8"/>
          <p:cNvSpPr txBox="1"/>
          <p:nvPr/>
        </p:nvSpPr>
        <p:spPr>
          <a:xfrm>
            <a:off x="914400" y="6400800"/>
            <a:ext cx="10332720" cy="365760"/>
          </a:xfrm>
          <a:prstGeom prst="rect">
            <a:avLst/>
          </a:prstGeom>
          <a:noFill/>
        </p:spPr>
        <p:txBody>
          <a:bodyPr wrap="square" lIns="0" rIns="0" tIns="0" bIns="0" anchor="t">
            <a:spAutoFit/>
          </a:bodyPr>
          <a:lstStyle/>
          <a:p>
            <a:pPr algn="ctr"/>
            <a:r>
              <a:rPr sz="1100" b="1" i="0" spc="500">
                <a:solidFill>
                  <a:srgbClr val="D4A047"/>
                </a:solidFill>
                <a:latin typeface="Helvetica"/>
              </a:rPr>
              <a:t>DANCE · SPIRIT · NATURE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